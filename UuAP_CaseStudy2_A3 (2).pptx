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4"/>
  </p:notesMasterIdLst>
  <p:sldIdLst>
    <p:sldId id="259" r:id="rId3"/>
  </p:sldIdLst>
  <p:sldSz cx="10688638" cy="15124113"/>
  <p:notesSz cx="15124113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270D97-8B89-408F-A2DC-D8C01CA14E53}" v="87" dt="2026-09-05T14:08:21.0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3" d="100"/>
          <a:sy n="93" d="100"/>
        </p:scale>
        <p:origin x="103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0438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47">
            <a:extLst>
              <a:ext uri="{FF2B5EF4-FFF2-40B4-BE49-F238E27FC236}">
                <a16:creationId xmlns:a16="http://schemas.microsoft.com/office/drawing/2014/main" id="{0455C486-AF2D-D1DA-C4DB-F4943120CA7F}"/>
              </a:ext>
            </a:extLst>
          </p:cNvPr>
          <p:cNvSpPr/>
          <p:nvPr userDrawn="1"/>
        </p:nvSpPr>
        <p:spPr>
          <a:xfrm>
            <a:off x="0" y="0"/>
            <a:ext cx="10689336" cy="25603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49">
            <a:extLst>
              <a:ext uri="{FF2B5EF4-FFF2-40B4-BE49-F238E27FC236}">
                <a16:creationId xmlns:a16="http://schemas.microsoft.com/office/drawing/2014/main" id="{4B3C5DBF-F76D-4E39-B79A-1852420170FD}"/>
              </a:ext>
            </a:extLst>
          </p:cNvPr>
          <p:cNvSpPr/>
          <p:nvPr userDrawn="1"/>
        </p:nvSpPr>
        <p:spPr>
          <a:xfrm>
            <a:off x="0" y="0"/>
            <a:ext cx="320040" cy="2560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54">
            <a:extLst>
              <a:ext uri="{FF2B5EF4-FFF2-40B4-BE49-F238E27FC236}">
                <a16:creationId xmlns:a16="http://schemas.microsoft.com/office/drawing/2014/main" id="{E98291C8-DF2E-8673-2D14-035ADAAD70D2}"/>
              </a:ext>
            </a:extLst>
          </p:cNvPr>
          <p:cNvSpPr/>
          <p:nvPr userDrawn="1"/>
        </p:nvSpPr>
        <p:spPr>
          <a:xfrm>
            <a:off x="9134856" y="182880"/>
            <a:ext cx="137160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55">
            <a:extLst>
              <a:ext uri="{FF2B5EF4-FFF2-40B4-BE49-F238E27FC236}">
                <a16:creationId xmlns:a16="http://schemas.microsoft.com/office/drawing/2014/main" id="{C227B14D-7ACF-3B9D-79B0-4B5347C0887E}"/>
              </a:ext>
            </a:extLst>
          </p:cNvPr>
          <p:cNvSpPr/>
          <p:nvPr userDrawn="1"/>
        </p:nvSpPr>
        <p:spPr>
          <a:xfrm>
            <a:off x="9150776" y="18515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2025/2026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E24EAD-345F-2048-C134-71B1986795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82849" y="918198"/>
            <a:ext cx="1796759" cy="1535447"/>
          </a:xfrm>
          <a:prstGeom prst="rect">
            <a:avLst/>
          </a:prstGeom>
        </p:spPr>
      </p:pic>
      <p:sp>
        <p:nvSpPr>
          <p:cNvPr id="7" name="Text 50">
            <a:extLst>
              <a:ext uri="{FF2B5EF4-FFF2-40B4-BE49-F238E27FC236}">
                <a16:creationId xmlns:a16="http://schemas.microsoft.com/office/drawing/2014/main" id="{E8D4A619-1CA5-0A94-5C44-3DE5C02527B1}"/>
              </a:ext>
            </a:extLst>
          </p:cNvPr>
          <p:cNvSpPr/>
          <p:nvPr userDrawn="1"/>
        </p:nvSpPr>
        <p:spPr>
          <a:xfrm>
            <a:off x="457200" y="182880"/>
            <a:ext cx="8677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DIEC 2026  |  UVOD U ANALIZU PODATAKA</a:t>
            </a:r>
            <a:endParaRPr lang="en-US" sz="900" dirty="0"/>
          </a:p>
        </p:txBody>
      </p:sp>
      <p:sp>
        <p:nvSpPr>
          <p:cNvPr id="10" name="Text 53">
            <a:extLst>
              <a:ext uri="{FF2B5EF4-FFF2-40B4-BE49-F238E27FC236}">
                <a16:creationId xmlns:a16="http://schemas.microsoft.com/office/drawing/2014/main" id="{C9F03124-864E-2BB3-1067-704AE3B51357}"/>
              </a:ext>
            </a:extLst>
          </p:cNvPr>
          <p:cNvSpPr/>
          <p:nvPr userDrawn="1"/>
        </p:nvSpPr>
        <p:spPr>
          <a:xfrm>
            <a:off x="457200" y="1993392"/>
            <a:ext cx="9774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Session, </a:t>
            </a:r>
            <a:r>
              <a:rPr lang="en-US" sz="8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</a:t>
            </a:r>
            <a:r>
              <a:rPr lang="en-US" sz="800" i="1" dirty="0" err="1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Internacionalna</a:t>
            </a:r>
            <a:r>
              <a:rPr lang="en-US" sz="8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i="1" dirty="0" err="1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poslovno</a:t>
            </a:r>
            <a:r>
              <a:rPr lang="en-US" sz="8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– </a:t>
            </a:r>
            <a:r>
              <a:rPr lang="en-US" sz="800" i="1" dirty="0" err="1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informaciona</a:t>
            </a:r>
            <a:r>
              <a:rPr lang="en-US" sz="8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i="1" dirty="0" err="1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akademija</a:t>
            </a:r>
            <a:r>
              <a:rPr lang="en-US" sz="8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” Tuzla</a:t>
            </a:r>
            <a:r>
              <a:rPr lang="en-US" sz="9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900" dirty="0"/>
          </a:p>
        </p:txBody>
      </p:sp>
      <p:sp>
        <p:nvSpPr>
          <p:cNvPr id="11" name="Shape 48">
            <a:extLst>
              <a:ext uri="{FF2B5EF4-FFF2-40B4-BE49-F238E27FC236}">
                <a16:creationId xmlns:a16="http://schemas.microsoft.com/office/drawing/2014/main" id="{4EBD3EEB-7102-E40E-3AF0-8B0118FD0341}"/>
              </a:ext>
            </a:extLst>
          </p:cNvPr>
          <p:cNvSpPr/>
          <p:nvPr userDrawn="1"/>
        </p:nvSpPr>
        <p:spPr>
          <a:xfrm>
            <a:off x="0" y="2560320"/>
            <a:ext cx="10689336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Shape 91">
            <a:extLst>
              <a:ext uri="{FF2B5EF4-FFF2-40B4-BE49-F238E27FC236}">
                <a16:creationId xmlns:a16="http://schemas.microsoft.com/office/drawing/2014/main" id="{27CD941B-D8AA-13EB-B266-F5AF187CE13A}"/>
              </a:ext>
            </a:extLst>
          </p:cNvPr>
          <p:cNvSpPr/>
          <p:nvPr userDrawn="1"/>
        </p:nvSpPr>
        <p:spPr>
          <a:xfrm>
            <a:off x="0" y="14374368"/>
            <a:ext cx="10689336" cy="74980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8" name="Shape 92">
            <a:extLst>
              <a:ext uri="{FF2B5EF4-FFF2-40B4-BE49-F238E27FC236}">
                <a16:creationId xmlns:a16="http://schemas.microsoft.com/office/drawing/2014/main" id="{AEEEA731-F0FB-42D0-4D9D-8750849D456E}"/>
              </a:ext>
            </a:extLst>
          </p:cNvPr>
          <p:cNvSpPr/>
          <p:nvPr userDrawn="1"/>
        </p:nvSpPr>
        <p:spPr>
          <a:xfrm>
            <a:off x="0" y="14374368"/>
            <a:ext cx="10689336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93">
            <a:extLst>
              <a:ext uri="{FF2B5EF4-FFF2-40B4-BE49-F238E27FC236}">
                <a16:creationId xmlns:a16="http://schemas.microsoft.com/office/drawing/2014/main" id="{05383E4D-9E58-FFD5-094E-34210177E601}"/>
              </a:ext>
            </a:extLst>
          </p:cNvPr>
          <p:cNvSpPr/>
          <p:nvPr userDrawn="1"/>
        </p:nvSpPr>
        <p:spPr>
          <a:xfrm>
            <a:off x="274320" y="14529816"/>
            <a:ext cx="6413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Uvod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u </a:t>
            </a:r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analizu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podataka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|  2025/2026  |  </a:t>
            </a:r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mr.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Selena </a:t>
            </a:r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Kurtić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dipl.ing.el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</a:t>
            </a:r>
          </a:p>
        </p:txBody>
      </p:sp>
      <p:sp>
        <p:nvSpPr>
          <p:cNvPr id="30" name="Text 94">
            <a:extLst>
              <a:ext uri="{FF2B5EF4-FFF2-40B4-BE49-F238E27FC236}">
                <a16:creationId xmlns:a16="http://schemas.microsoft.com/office/drawing/2014/main" id="{3150D26A-EF9E-AA26-B58C-510300148D3C}"/>
              </a:ext>
            </a:extLst>
          </p:cNvPr>
          <p:cNvSpPr/>
          <p:nvPr userDrawn="1"/>
        </p:nvSpPr>
        <p:spPr>
          <a:xfrm>
            <a:off x="274320" y="14776704"/>
            <a:ext cx="8017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IPI </a:t>
            </a:r>
            <a:r>
              <a:rPr lang="en-US" sz="70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Akademija</a:t>
            </a:r>
            <a:r>
              <a:rPr lang="en-US" sz="7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| Kulina </a:t>
            </a:r>
            <a:r>
              <a:rPr lang="en-US" sz="70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bana</a:t>
            </a:r>
            <a:r>
              <a:rPr lang="en-US" sz="7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br. 2, 75000 Tuzla, Bosna </a:t>
            </a:r>
            <a:r>
              <a:rPr lang="en-US" sz="70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7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Hercegovina</a:t>
            </a:r>
            <a:endParaRPr lang="en-US" sz="700" dirty="0"/>
          </a:p>
        </p:txBody>
      </p:sp>
      <p:sp>
        <p:nvSpPr>
          <p:cNvPr id="31" name="Text 95">
            <a:extLst>
              <a:ext uri="{FF2B5EF4-FFF2-40B4-BE49-F238E27FC236}">
                <a16:creationId xmlns:a16="http://schemas.microsoft.com/office/drawing/2014/main" id="{DBDEE705-1F78-8131-1104-2CE4207641C5}"/>
              </a:ext>
            </a:extLst>
          </p:cNvPr>
          <p:cNvSpPr/>
          <p:nvPr userDrawn="1"/>
        </p:nvSpPr>
        <p:spPr>
          <a:xfrm>
            <a:off x="8677656" y="1443837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DIEC 2026</a:t>
            </a:r>
            <a:endParaRPr lang="en-US" sz="800" dirty="0"/>
          </a:p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Poster Session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47">
            <a:extLst>
              <a:ext uri="{FF2B5EF4-FFF2-40B4-BE49-F238E27FC236}">
                <a16:creationId xmlns:a16="http://schemas.microsoft.com/office/drawing/2014/main" id="{0455C486-AF2D-D1DA-C4DB-F4943120CA7F}"/>
              </a:ext>
            </a:extLst>
          </p:cNvPr>
          <p:cNvSpPr/>
          <p:nvPr userDrawn="1"/>
        </p:nvSpPr>
        <p:spPr>
          <a:xfrm>
            <a:off x="0" y="0"/>
            <a:ext cx="10689336" cy="25603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49">
            <a:extLst>
              <a:ext uri="{FF2B5EF4-FFF2-40B4-BE49-F238E27FC236}">
                <a16:creationId xmlns:a16="http://schemas.microsoft.com/office/drawing/2014/main" id="{4B3C5DBF-F76D-4E39-B79A-1852420170FD}"/>
              </a:ext>
            </a:extLst>
          </p:cNvPr>
          <p:cNvSpPr/>
          <p:nvPr userDrawn="1"/>
        </p:nvSpPr>
        <p:spPr>
          <a:xfrm>
            <a:off x="0" y="0"/>
            <a:ext cx="320040" cy="2560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54">
            <a:extLst>
              <a:ext uri="{FF2B5EF4-FFF2-40B4-BE49-F238E27FC236}">
                <a16:creationId xmlns:a16="http://schemas.microsoft.com/office/drawing/2014/main" id="{E98291C8-DF2E-8673-2D14-035ADAAD70D2}"/>
              </a:ext>
            </a:extLst>
          </p:cNvPr>
          <p:cNvSpPr/>
          <p:nvPr userDrawn="1"/>
        </p:nvSpPr>
        <p:spPr>
          <a:xfrm>
            <a:off x="9134856" y="182880"/>
            <a:ext cx="137160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55">
            <a:extLst>
              <a:ext uri="{FF2B5EF4-FFF2-40B4-BE49-F238E27FC236}">
                <a16:creationId xmlns:a16="http://schemas.microsoft.com/office/drawing/2014/main" id="{C227B14D-7ACF-3B9D-79B0-4B5347C0887E}"/>
              </a:ext>
            </a:extLst>
          </p:cNvPr>
          <p:cNvSpPr/>
          <p:nvPr userDrawn="1"/>
        </p:nvSpPr>
        <p:spPr>
          <a:xfrm>
            <a:off x="9150776" y="18515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2025/2026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E24EAD-345F-2048-C134-71B1986795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82849" y="918198"/>
            <a:ext cx="1796759" cy="1535447"/>
          </a:xfrm>
          <a:prstGeom prst="rect">
            <a:avLst/>
          </a:prstGeom>
        </p:spPr>
      </p:pic>
      <p:sp>
        <p:nvSpPr>
          <p:cNvPr id="7" name="Text 50">
            <a:extLst>
              <a:ext uri="{FF2B5EF4-FFF2-40B4-BE49-F238E27FC236}">
                <a16:creationId xmlns:a16="http://schemas.microsoft.com/office/drawing/2014/main" id="{E8D4A619-1CA5-0A94-5C44-3DE5C02527B1}"/>
              </a:ext>
            </a:extLst>
          </p:cNvPr>
          <p:cNvSpPr/>
          <p:nvPr userDrawn="1"/>
        </p:nvSpPr>
        <p:spPr>
          <a:xfrm>
            <a:off x="457200" y="182880"/>
            <a:ext cx="8677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DIEC 2026  |  UVOD U ANALIZU PODATAKA</a:t>
            </a:r>
            <a:endParaRPr lang="en-US" sz="900" dirty="0"/>
          </a:p>
        </p:txBody>
      </p:sp>
      <p:sp>
        <p:nvSpPr>
          <p:cNvPr id="8" name="Text 51">
            <a:extLst>
              <a:ext uri="{FF2B5EF4-FFF2-40B4-BE49-F238E27FC236}">
                <a16:creationId xmlns:a16="http://schemas.microsoft.com/office/drawing/2014/main" id="{51A592FB-33E4-744B-A6DB-036060432B3D}"/>
              </a:ext>
            </a:extLst>
          </p:cNvPr>
          <p:cNvSpPr/>
          <p:nvPr userDrawn="1"/>
        </p:nvSpPr>
        <p:spPr>
          <a:xfrm>
            <a:off x="457200" y="548640"/>
            <a:ext cx="8860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[Naslov vašeg postera ide ovdje]</a:t>
            </a:r>
            <a:endParaRPr lang="en-US" sz="2600" dirty="0"/>
          </a:p>
        </p:txBody>
      </p:sp>
      <p:sp>
        <p:nvSpPr>
          <p:cNvPr id="9" name="Text 52">
            <a:extLst>
              <a:ext uri="{FF2B5EF4-FFF2-40B4-BE49-F238E27FC236}">
                <a16:creationId xmlns:a16="http://schemas.microsoft.com/office/drawing/2014/main" id="{1F2A40AE-56BC-6A01-0A25-D90E4833B3FB}"/>
              </a:ext>
            </a:extLst>
          </p:cNvPr>
          <p:cNvSpPr/>
          <p:nvPr userDrawn="1"/>
        </p:nvSpPr>
        <p:spPr>
          <a:xfrm>
            <a:off x="457200" y="1627632"/>
            <a:ext cx="9774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Autor 1 (email)  |  Autor 2 (email)  |  Autor 3 (email)</a:t>
            </a:r>
            <a:endParaRPr lang="en-US" sz="1000" dirty="0"/>
          </a:p>
        </p:txBody>
      </p:sp>
      <p:sp>
        <p:nvSpPr>
          <p:cNvPr id="10" name="Text 53">
            <a:extLst>
              <a:ext uri="{FF2B5EF4-FFF2-40B4-BE49-F238E27FC236}">
                <a16:creationId xmlns:a16="http://schemas.microsoft.com/office/drawing/2014/main" id="{C9F03124-864E-2BB3-1067-704AE3B51357}"/>
              </a:ext>
            </a:extLst>
          </p:cNvPr>
          <p:cNvSpPr/>
          <p:nvPr userDrawn="1"/>
        </p:nvSpPr>
        <p:spPr>
          <a:xfrm>
            <a:off x="457200" y="1993392"/>
            <a:ext cx="9774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Session, </a:t>
            </a:r>
            <a:r>
              <a:rPr lang="en-US" sz="8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</a:t>
            </a:r>
            <a:r>
              <a:rPr lang="en-US" sz="800" i="1" dirty="0" err="1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Internacionalna</a:t>
            </a:r>
            <a:r>
              <a:rPr lang="en-US" sz="8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i="1" dirty="0" err="1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poslovno</a:t>
            </a:r>
            <a:r>
              <a:rPr lang="en-US" sz="8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– </a:t>
            </a:r>
            <a:r>
              <a:rPr lang="en-US" sz="800" i="1" dirty="0" err="1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informaciona</a:t>
            </a:r>
            <a:r>
              <a:rPr lang="en-US" sz="8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i="1" dirty="0" err="1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akademija</a:t>
            </a:r>
            <a:r>
              <a:rPr lang="en-US" sz="8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” Tuzla</a:t>
            </a:r>
            <a:r>
              <a:rPr lang="en-US" sz="9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900" dirty="0"/>
          </a:p>
        </p:txBody>
      </p:sp>
      <p:sp>
        <p:nvSpPr>
          <p:cNvPr id="11" name="Shape 48">
            <a:extLst>
              <a:ext uri="{FF2B5EF4-FFF2-40B4-BE49-F238E27FC236}">
                <a16:creationId xmlns:a16="http://schemas.microsoft.com/office/drawing/2014/main" id="{4EBD3EEB-7102-E40E-3AF0-8B0118FD0341}"/>
              </a:ext>
            </a:extLst>
          </p:cNvPr>
          <p:cNvSpPr/>
          <p:nvPr userDrawn="1"/>
        </p:nvSpPr>
        <p:spPr>
          <a:xfrm>
            <a:off x="0" y="2560320"/>
            <a:ext cx="10689336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58">
            <a:extLst>
              <a:ext uri="{FF2B5EF4-FFF2-40B4-BE49-F238E27FC236}">
                <a16:creationId xmlns:a16="http://schemas.microsoft.com/office/drawing/2014/main" id="{D6158FCB-54C4-2F74-DF48-F7B41D5B526D}"/>
              </a:ext>
            </a:extLst>
          </p:cNvPr>
          <p:cNvSpPr/>
          <p:nvPr userDrawn="1"/>
        </p:nvSpPr>
        <p:spPr>
          <a:xfrm>
            <a:off x="160020" y="2788920"/>
            <a:ext cx="510463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61">
            <a:extLst>
              <a:ext uri="{FF2B5EF4-FFF2-40B4-BE49-F238E27FC236}">
                <a16:creationId xmlns:a16="http://schemas.microsoft.com/office/drawing/2014/main" id="{03377519-E363-CB67-0B96-52ACDCFCBDDB}"/>
              </a:ext>
            </a:extLst>
          </p:cNvPr>
          <p:cNvSpPr/>
          <p:nvPr userDrawn="1"/>
        </p:nvSpPr>
        <p:spPr>
          <a:xfrm>
            <a:off x="297180" y="3319272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  <p:sp>
        <p:nvSpPr>
          <p:cNvPr id="14" name="Shape 59">
            <a:extLst>
              <a:ext uri="{FF2B5EF4-FFF2-40B4-BE49-F238E27FC236}">
                <a16:creationId xmlns:a16="http://schemas.microsoft.com/office/drawing/2014/main" id="{A637BFA5-A0AC-DD28-DFA2-885590A674B5}"/>
              </a:ext>
            </a:extLst>
          </p:cNvPr>
          <p:cNvSpPr/>
          <p:nvPr userDrawn="1"/>
        </p:nvSpPr>
        <p:spPr>
          <a:xfrm>
            <a:off x="160020" y="2788920"/>
            <a:ext cx="5104638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60">
            <a:extLst>
              <a:ext uri="{FF2B5EF4-FFF2-40B4-BE49-F238E27FC236}">
                <a16:creationId xmlns:a16="http://schemas.microsoft.com/office/drawing/2014/main" id="{6DE983D1-4037-AE77-369A-28E1786CB944}"/>
              </a:ext>
            </a:extLst>
          </p:cNvPr>
          <p:cNvSpPr/>
          <p:nvPr userDrawn="1"/>
        </p:nvSpPr>
        <p:spPr>
          <a:xfrm>
            <a:off x="297180" y="2935224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SAŽETAK</a:t>
            </a:r>
            <a:endParaRPr lang="en-US" sz="1400" dirty="0"/>
          </a:p>
        </p:txBody>
      </p:sp>
      <p:sp>
        <p:nvSpPr>
          <p:cNvPr id="16" name="Text 62">
            <a:extLst>
              <a:ext uri="{FF2B5EF4-FFF2-40B4-BE49-F238E27FC236}">
                <a16:creationId xmlns:a16="http://schemas.microsoft.com/office/drawing/2014/main" id="{DDEDA90E-4DCE-D67D-4DC9-3D37BBFF6230}"/>
              </a:ext>
            </a:extLst>
          </p:cNvPr>
          <p:cNvSpPr/>
          <p:nvPr userDrawn="1"/>
        </p:nvSpPr>
        <p:spPr>
          <a:xfrm>
            <a:off x="297180" y="3383280"/>
            <a:ext cx="483031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l-PL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Napišite 3–5 rečenica. Ukratko opišite temu, podatke, metodu i ključni nalaz.</a:t>
            </a:r>
            <a:endParaRPr lang="en-US" sz="1200" i="1" dirty="0">
              <a:solidFill>
                <a:srgbClr val="9CA3AF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✎ 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Savjet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Sažetak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pišite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NA KRAJU,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kada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završite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sve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ostale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sekcije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200" dirty="0"/>
          </a:p>
        </p:txBody>
      </p:sp>
      <p:sp>
        <p:nvSpPr>
          <p:cNvPr id="17" name="Shape 63">
            <a:extLst>
              <a:ext uri="{FF2B5EF4-FFF2-40B4-BE49-F238E27FC236}">
                <a16:creationId xmlns:a16="http://schemas.microsoft.com/office/drawing/2014/main" id="{317F900C-DE32-2196-C383-6E08D95E9D84}"/>
              </a:ext>
            </a:extLst>
          </p:cNvPr>
          <p:cNvSpPr/>
          <p:nvPr userDrawn="1"/>
        </p:nvSpPr>
        <p:spPr>
          <a:xfrm>
            <a:off x="160020" y="4507992"/>
            <a:ext cx="510463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64">
            <a:extLst>
              <a:ext uri="{FF2B5EF4-FFF2-40B4-BE49-F238E27FC236}">
                <a16:creationId xmlns:a16="http://schemas.microsoft.com/office/drawing/2014/main" id="{BAC31545-BC99-E9C7-1223-7733F925FA65}"/>
              </a:ext>
            </a:extLst>
          </p:cNvPr>
          <p:cNvSpPr/>
          <p:nvPr userDrawn="1"/>
        </p:nvSpPr>
        <p:spPr>
          <a:xfrm>
            <a:off x="160020" y="4507992"/>
            <a:ext cx="5104638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65">
            <a:extLst>
              <a:ext uri="{FF2B5EF4-FFF2-40B4-BE49-F238E27FC236}">
                <a16:creationId xmlns:a16="http://schemas.microsoft.com/office/drawing/2014/main" id="{AE32D8C6-8F3E-A83F-38A1-EDC598FAC3E7}"/>
              </a:ext>
            </a:extLst>
          </p:cNvPr>
          <p:cNvSpPr/>
          <p:nvPr userDrawn="1"/>
        </p:nvSpPr>
        <p:spPr>
          <a:xfrm>
            <a:off x="297180" y="4654296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UVOD I ISTRAŽIVAČKO PITANJE</a:t>
            </a:r>
            <a:endParaRPr lang="en-US" sz="1400" dirty="0"/>
          </a:p>
        </p:txBody>
      </p:sp>
      <p:sp>
        <p:nvSpPr>
          <p:cNvPr id="20" name="Text 67">
            <a:extLst>
              <a:ext uri="{FF2B5EF4-FFF2-40B4-BE49-F238E27FC236}">
                <a16:creationId xmlns:a16="http://schemas.microsoft.com/office/drawing/2014/main" id="{8AEE1043-7461-0500-A976-B104557716F2}"/>
              </a:ext>
            </a:extLst>
          </p:cNvPr>
          <p:cNvSpPr/>
          <p:nvPr userDrawn="1"/>
        </p:nvSpPr>
        <p:spPr>
          <a:xfrm>
            <a:off x="297180" y="5102352"/>
            <a:ext cx="483031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Koji problem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istražujete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zašto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je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važan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?</a:t>
            </a:r>
          </a:p>
          <a:p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Istraživačko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pitanje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'Ovo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istraživanje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ispituje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da li X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koristeći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podatke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iz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Y...'</a:t>
            </a:r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Kratko objasnite kontekst ili pozadinu teme.</a:t>
            </a:r>
            <a:endParaRPr lang="en-US" sz="1200" dirty="0"/>
          </a:p>
        </p:txBody>
      </p:sp>
      <p:sp>
        <p:nvSpPr>
          <p:cNvPr id="21" name="Shape 68">
            <a:extLst>
              <a:ext uri="{FF2B5EF4-FFF2-40B4-BE49-F238E27FC236}">
                <a16:creationId xmlns:a16="http://schemas.microsoft.com/office/drawing/2014/main" id="{00F3B5D6-B626-7475-1F44-377BBD27AE50}"/>
              </a:ext>
            </a:extLst>
          </p:cNvPr>
          <p:cNvSpPr/>
          <p:nvPr userDrawn="1"/>
        </p:nvSpPr>
        <p:spPr>
          <a:xfrm>
            <a:off x="160020" y="6592824"/>
            <a:ext cx="5104638" cy="7662672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69">
            <a:extLst>
              <a:ext uri="{FF2B5EF4-FFF2-40B4-BE49-F238E27FC236}">
                <a16:creationId xmlns:a16="http://schemas.microsoft.com/office/drawing/2014/main" id="{F0F31AD2-76B2-7BAB-CBB7-14A36177A7E4}"/>
              </a:ext>
            </a:extLst>
          </p:cNvPr>
          <p:cNvSpPr/>
          <p:nvPr userDrawn="1"/>
        </p:nvSpPr>
        <p:spPr>
          <a:xfrm>
            <a:off x="160020" y="6592824"/>
            <a:ext cx="5104638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72">
            <a:extLst>
              <a:ext uri="{FF2B5EF4-FFF2-40B4-BE49-F238E27FC236}">
                <a16:creationId xmlns:a16="http://schemas.microsoft.com/office/drawing/2014/main" id="{8500D634-0348-5D51-55B2-1693103F4358}"/>
              </a:ext>
            </a:extLst>
          </p:cNvPr>
          <p:cNvSpPr/>
          <p:nvPr userDrawn="1"/>
        </p:nvSpPr>
        <p:spPr>
          <a:xfrm>
            <a:off x="297180" y="7187184"/>
            <a:ext cx="4830318" cy="694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Izvor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podataka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(Kaggle, API,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anketa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...)</a:t>
            </a:r>
          </a:p>
          <a:p>
            <a:endParaRPr lang="en-US" sz="1200" i="1" dirty="0">
              <a:solidFill>
                <a:srgbClr val="9CA3AF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Veličina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X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redova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Y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kolona</a:t>
            </a:r>
            <a:endParaRPr lang="en-US" sz="1200" i="1" dirty="0">
              <a:solidFill>
                <a:srgbClr val="9CA3AF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endParaRPr lang="en-US" sz="1200" i="1" dirty="0">
              <a:solidFill>
                <a:srgbClr val="9CA3AF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Ključne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varijable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navedite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3-5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glavnih</a:t>
            </a:r>
            <a:endParaRPr lang="en-US" sz="1200" i="1" dirty="0">
              <a:solidFill>
                <a:srgbClr val="9CA3AF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endParaRPr lang="en-US" sz="1200" i="1" dirty="0">
              <a:solidFill>
                <a:srgbClr val="9CA3AF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Preprocesiranje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čišćenje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filtriranje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encoding</a:t>
            </a:r>
          </a:p>
          <a:p>
            <a:endParaRPr lang="en-US" sz="1200" i="1" dirty="0">
              <a:solidFill>
                <a:srgbClr val="9CA3AF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Analitički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pristup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</a:t>
            </a:r>
          </a:p>
          <a:p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EDA —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opis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obrazaca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statistike</a:t>
            </a:r>
            <a:endParaRPr lang="en-US" sz="1200" i="1" dirty="0">
              <a:solidFill>
                <a:srgbClr val="9CA3AF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Primijenjena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tehnika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(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regresija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klasifikacija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klasterizacija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...)</a:t>
            </a:r>
          </a:p>
          <a:p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Biblioteke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pandas, NumPy, matplotlib, seaborn, scikit-learn</a:t>
            </a:r>
            <a:endParaRPr lang="en-US" sz="1200" dirty="0"/>
          </a:p>
        </p:txBody>
      </p:sp>
      <p:sp>
        <p:nvSpPr>
          <p:cNvPr id="24" name="Text 70">
            <a:extLst>
              <a:ext uri="{FF2B5EF4-FFF2-40B4-BE49-F238E27FC236}">
                <a16:creationId xmlns:a16="http://schemas.microsoft.com/office/drawing/2014/main" id="{AA10E646-313E-1DD2-4561-DF77B994C49C}"/>
              </a:ext>
            </a:extLst>
          </p:cNvPr>
          <p:cNvSpPr/>
          <p:nvPr userDrawn="1"/>
        </p:nvSpPr>
        <p:spPr>
          <a:xfrm>
            <a:off x="297180" y="6739128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&amp; METODOLOGIJA</a:t>
            </a:r>
            <a:endParaRPr lang="en-US" sz="1400" dirty="0"/>
          </a:p>
        </p:txBody>
      </p:sp>
      <p:sp>
        <p:nvSpPr>
          <p:cNvPr id="25" name="Shape 66">
            <a:extLst>
              <a:ext uri="{FF2B5EF4-FFF2-40B4-BE49-F238E27FC236}">
                <a16:creationId xmlns:a16="http://schemas.microsoft.com/office/drawing/2014/main" id="{AAE586D7-35F2-B09B-F47A-D902A07F5A46}"/>
              </a:ext>
            </a:extLst>
          </p:cNvPr>
          <p:cNvSpPr/>
          <p:nvPr userDrawn="1"/>
        </p:nvSpPr>
        <p:spPr>
          <a:xfrm>
            <a:off x="297180" y="5038344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  <p:sp>
        <p:nvSpPr>
          <p:cNvPr id="26" name="Shape 71">
            <a:extLst>
              <a:ext uri="{FF2B5EF4-FFF2-40B4-BE49-F238E27FC236}">
                <a16:creationId xmlns:a16="http://schemas.microsoft.com/office/drawing/2014/main" id="{1FB5C69A-F8D2-B340-E447-477284555F3B}"/>
              </a:ext>
            </a:extLst>
          </p:cNvPr>
          <p:cNvSpPr/>
          <p:nvPr userDrawn="1"/>
        </p:nvSpPr>
        <p:spPr>
          <a:xfrm>
            <a:off x="297180" y="7123176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  <p:sp>
        <p:nvSpPr>
          <p:cNvPr id="27" name="Shape 91">
            <a:extLst>
              <a:ext uri="{FF2B5EF4-FFF2-40B4-BE49-F238E27FC236}">
                <a16:creationId xmlns:a16="http://schemas.microsoft.com/office/drawing/2014/main" id="{27CD941B-D8AA-13EB-B266-F5AF187CE13A}"/>
              </a:ext>
            </a:extLst>
          </p:cNvPr>
          <p:cNvSpPr/>
          <p:nvPr userDrawn="1"/>
        </p:nvSpPr>
        <p:spPr>
          <a:xfrm>
            <a:off x="0" y="14374368"/>
            <a:ext cx="10689336" cy="74980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8" name="Shape 92">
            <a:extLst>
              <a:ext uri="{FF2B5EF4-FFF2-40B4-BE49-F238E27FC236}">
                <a16:creationId xmlns:a16="http://schemas.microsoft.com/office/drawing/2014/main" id="{AEEEA731-F0FB-42D0-4D9D-8750849D456E}"/>
              </a:ext>
            </a:extLst>
          </p:cNvPr>
          <p:cNvSpPr/>
          <p:nvPr userDrawn="1"/>
        </p:nvSpPr>
        <p:spPr>
          <a:xfrm>
            <a:off x="0" y="14374368"/>
            <a:ext cx="10689336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93">
            <a:extLst>
              <a:ext uri="{FF2B5EF4-FFF2-40B4-BE49-F238E27FC236}">
                <a16:creationId xmlns:a16="http://schemas.microsoft.com/office/drawing/2014/main" id="{05383E4D-9E58-FFD5-094E-34210177E601}"/>
              </a:ext>
            </a:extLst>
          </p:cNvPr>
          <p:cNvSpPr/>
          <p:nvPr userDrawn="1"/>
        </p:nvSpPr>
        <p:spPr>
          <a:xfrm>
            <a:off x="274320" y="14529816"/>
            <a:ext cx="6413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Uvod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u </a:t>
            </a:r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analizu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podataka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|  2025/2026  |  </a:t>
            </a:r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mr.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Selena </a:t>
            </a:r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Kurtić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dipl.ing.el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</a:t>
            </a:r>
          </a:p>
        </p:txBody>
      </p:sp>
      <p:sp>
        <p:nvSpPr>
          <p:cNvPr id="30" name="Text 94">
            <a:extLst>
              <a:ext uri="{FF2B5EF4-FFF2-40B4-BE49-F238E27FC236}">
                <a16:creationId xmlns:a16="http://schemas.microsoft.com/office/drawing/2014/main" id="{3150D26A-EF9E-AA26-B58C-510300148D3C}"/>
              </a:ext>
            </a:extLst>
          </p:cNvPr>
          <p:cNvSpPr/>
          <p:nvPr userDrawn="1"/>
        </p:nvSpPr>
        <p:spPr>
          <a:xfrm>
            <a:off x="274320" y="14776704"/>
            <a:ext cx="8017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IPI </a:t>
            </a:r>
            <a:r>
              <a:rPr lang="en-US" sz="70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Akademija</a:t>
            </a:r>
            <a:r>
              <a:rPr lang="en-US" sz="7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| Kulina </a:t>
            </a:r>
            <a:r>
              <a:rPr lang="en-US" sz="70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bana</a:t>
            </a:r>
            <a:r>
              <a:rPr lang="en-US" sz="7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br. 2, 75000 Tuzla, Bosna </a:t>
            </a:r>
            <a:r>
              <a:rPr lang="en-US" sz="70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7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Hercegovina</a:t>
            </a:r>
            <a:endParaRPr lang="en-US" sz="700" dirty="0"/>
          </a:p>
        </p:txBody>
      </p:sp>
      <p:sp>
        <p:nvSpPr>
          <p:cNvPr id="31" name="Text 95">
            <a:extLst>
              <a:ext uri="{FF2B5EF4-FFF2-40B4-BE49-F238E27FC236}">
                <a16:creationId xmlns:a16="http://schemas.microsoft.com/office/drawing/2014/main" id="{DBDEE705-1F78-8131-1104-2CE4207641C5}"/>
              </a:ext>
            </a:extLst>
          </p:cNvPr>
          <p:cNvSpPr/>
          <p:nvPr userDrawn="1"/>
        </p:nvSpPr>
        <p:spPr>
          <a:xfrm>
            <a:off x="8677656" y="1443837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DIEC 2026</a:t>
            </a:r>
            <a:endParaRPr lang="en-US" sz="800" dirty="0"/>
          </a:p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Poster Session</a:t>
            </a:r>
            <a:endParaRPr lang="en-US" sz="800" dirty="0"/>
          </a:p>
        </p:txBody>
      </p:sp>
      <p:sp>
        <p:nvSpPr>
          <p:cNvPr id="32" name="Shape 73">
            <a:extLst>
              <a:ext uri="{FF2B5EF4-FFF2-40B4-BE49-F238E27FC236}">
                <a16:creationId xmlns:a16="http://schemas.microsoft.com/office/drawing/2014/main" id="{F656607E-C08B-970B-A47D-857C4B45DE84}"/>
              </a:ext>
            </a:extLst>
          </p:cNvPr>
          <p:cNvSpPr/>
          <p:nvPr userDrawn="1"/>
        </p:nvSpPr>
        <p:spPr>
          <a:xfrm>
            <a:off x="5424678" y="2788920"/>
            <a:ext cx="510463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74">
            <a:extLst>
              <a:ext uri="{FF2B5EF4-FFF2-40B4-BE49-F238E27FC236}">
                <a16:creationId xmlns:a16="http://schemas.microsoft.com/office/drawing/2014/main" id="{0229A630-95A9-2A47-29C3-28D9AD734FFA}"/>
              </a:ext>
            </a:extLst>
          </p:cNvPr>
          <p:cNvSpPr/>
          <p:nvPr userDrawn="1"/>
        </p:nvSpPr>
        <p:spPr>
          <a:xfrm>
            <a:off x="5424678" y="2788920"/>
            <a:ext cx="5104638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75">
            <a:extLst>
              <a:ext uri="{FF2B5EF4-FFF2-40B4-BE49-F238E27FC236}">
                <a16:creationId xmlns:a16="http://schemas.microsoft.com/office/drawing/2014/main" id="{C95DCC21-243B-739B-EB13-397A03A92BD5}"/>
              </a:ext>
            </a:extLst>
          </p:cNvPr>
          <p:cNvSpPr/>
          <p:nvPr userDrawn="1"/>
        </p:nvSpPr>
        <p:spPr>
          <a:xfrm>
            <a:off x="5561838" y="2935224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VIZUALIZACIJA PODATAKA</a:t>
            </a:r>
            <a:endParaRPr lang="en-US" sz="1400" dirty="0"/>
          </a:p>
        </p:txBody>
      </p:sp>
      <p:sp>
        <p:nvSpPr>
          <p:cNvPr id="35" name="Shape 76">
            <a:extLst>
              <a:ext uri="{FF2B5EF4-FFF2-40B4-BE49-F238E27FC236}">
                <a16:creationId xmlns:a16="http://schemas.microsoft.com/office/drawing/2014/main" id="{CD8C7512-2D4C-4371-8BDE-A529DD103584}"/>
              </a:ext>
            </a:extLst>
          </p:cNvPr>
          <p:cNvSpPr/>
          <p:nvPr userDrawn="1"/>
        </p:nvSpPr>
        <p:spPr>
          <a:xfrm>
            <a:off x="5561838" y="3319272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  <p:sp>
        <p:nvSpPr>
          <p:cNvPr id="36" name="Shape 77">
            <a:extLst>
              <a:ext uri="{FF2B5EF4-FFF2-40B4-BE49-F238E27FC236}">
                <a16:creationId xmlns:a16="http://schemas.microsoft.com/office/drawing/2014/main" id="{C0FDBA82-1D23-D238-A555-3645162FC752}"/>
              </a:ext>
            </a:extLst>
          </p:cNvPr>
          <p:cNvSpPr/>
          <p:nvPr userDrawn="1"/>
        </p:nvSpPr>
        <p:spPr>
          <a:xfrm>
            <a:off x="5424678" y="3474720"/>
            <a:ext cx="5104638" cy="2468880"/>
          </a:xfrm>
          <a:prstGeom prst="rect">
            <a:avLst/>
          </a:prstGeom>
          <a:solidFill>
            <a:srgbClr val="E8F4F8"/>
          </a:solidFill>
          <a:ln w="9525">
            <a:solidFill>
              <a:srgbClr val="A0C8D8"/>
            </a:solidFill>
            <a:prstDash val="dash"/>
          </a:ln>
        </p:spPr>
      </p:sp>
      <p:sp>
        <p:nvSpPr>
          <p:cNvPr id="37" name="Text 78">
            <a:extLst>
              <a:ext uri="{FF2B5EF4-FFF2-40B4-BE49-F238E27FC236}">
                <a16:creationId xmlns:a16="http://schemas.microsoft.com/office/drawing/2014/main" id="{658E0269-F24B-F6A7-9C60-917F676FC4BA}"/>
              </a:ext>
            </a:extLst>
          </p:cNvPr>
          <p:cNvSpPr/>
          <p:nvPr userDrawn="1"/>
        </p:nvSpPr>
        <p:spPr>
          <a:xfrm>
            <a:off x="5446452" y="3481980"/>
            <a:ext cx="510463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 Umetnite grafikon / sliku ovdje 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Slika 1 – Potpis (Times New Roman, 10pt, centrirano)</a:t>
            </a:r>
            <a:endParaRPr lang="en-US" sz="1000" dirty="0"/>
          </a:p>
        </p:txBody>
      </p:sp>
      <p:sp>
        <p:nvSpPr>
          <p:cNvPr id="38" name="Shape 79">
            <a:extLst>
              <a:ext uri="{FF2B5EF4-FFF2-40B4-BE49-F238E27FC236}">
                <a16:creationId xmlns:a16="http://schemas.microsoft.com/office/drawing/2014/main" id="{7FEF126D-0159-A5BE-B2D9-5B7373338B65}"/>
              </a:ext>
            </a:extLst>
          </p:cNvPr>
          <p:cNvSpPr/>
          <p:nvPr userDrawn="1"/>
        </p:nvSpPr>
        <p:spPr>
          <a:xfrm>
            <a:off x="5424678" y="6108192"/>
            <a:ext cx="5104638" cy="2468880"/>
          </a:xfrm>
          <a:prstGeom prst="rect">
            <a:avLst/>
          </a:prstGeom>
          <a:solidFill>
            <a:srgbClr val="E8F4F8"/>
          </a:solidFill>
          <a:ln w="9525">
            <a:solidFill>
              <a:srgbClr val="A0C8D8"/>
            </a:solidFill>
            <a:prstDash val="dash"/>
          </a:ln>
        </p:spPr>
      </p:sp>
      <p:sp>
        <p:nvSpPr>
          <p:cNvPr id="40" name="Text 80">
            <a:extLst>
              <a:ext uri="{FF2B5EF4-FFF2-40B4-BE49-F238E27FC236}">
                <a16:creationId xmlns:a16="http://schemas.microsoft.com/office/drawing/2014/main" id="{42FF101E-32A1-16F9-2C0C-FFE485DE2206}"/>
              </a:ext>
            </a:extLst>
          </p:cNvPr>
          <p:cNvSpPr/>
          <p:nvPr userDrawn="1"/>
        </p:nvSpPr>
        <p:spPr>
          <a:xfrm>
            <a:off x="5431933" y="6144480"/>
            <a:ext cx="510463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 Umetnite grafikon / sliku ovdje 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Slika 2 – Potpis (Times New Roman, 10pt, centrirano)</a:t>
            </a:r>
            <a:endParaRPr lang="en-US" sz="1000" dirty="0"/>
          </a:p>
        </p:txBody>
      </p:sp>
      <p:sp>
        <p:nvSpPr>
          <p:cNvPr id="41" name="Shape 81">
            <a:extLst>
              <a:ext uri="{FF2B5EF4-FFF2-40B4-BE49-F238E27FC236}">
                <a16:creationId xmlns:a16="http://schemas.microsoft.com/office/drawing/2014/main" id="{AE9FBFC9-1079-FA41-9CBA-89576CAE4C74}"/>
              </a:ext>
            </a:extLst>
          </p:cNvPr>
          <p:cNvSpPr/>
          <p:nvPr userDrawn="1"/>
        </p:nvSpPr>
        <p:spPr>
          <a:xfrm>
            <a:off x="5424678" y="8741664"/>
            <a:ext cx="5104638" cy="2916936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2" name="Shape 82">
            <a:extLst>
              <a:ext uri="{FF2B5EF4-FFF2-40B4-BE49-F238E27FC236}">
                <a16:creationId xmlns:a16="http://schemas.microsoft.com/office/drawing/2014/main" id="{7AA4182A-CE52-BA05-AA5C-6DDBA28F723B}"/>
              </a:ext>
            </a:extLst>
          </p:cNvPr>
          <p:cNvSpPr/>
          <p:nvPr userDrawn="1"/>
        </p:nvSpPr>
        <p:spPr>
          <a:xfrm>
            <a:off x="5424678" y="8741664"/>
            <a:ext cx="5104638" cy="10972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43" name="Text 83">
            <a:extLst>
              <a:ext uri="{FF2B5EF4-FFF2-40B4-BE49-F238E27FC236}">
                <a16:creationId xmlns:a16="http://schemas.microsoft.com/office/drawing/2014/main" id="{0EE5F1E0-7DD7-D6B3-FAB3-83C63E9425CE}"/>
              </a:ext>
            </a:extLst>
          </p:cNvPr>
          <p:cNvSpPr/>
          <p:nvPr userDrawn="1"/>
        </p:nvSpPr>
        <p:spPr>
          <a:xfrm>
            <a:off x="5561838" y="8887968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ZAKLJUČAK</a:t>
            </a:r>
            <a:endParaRPr lang="en-US" sz="1400" dirty="0"/>
          </a:p>
        </p:txBody>
      </p:sp>
      <p:sp>
        <p:nvSpPr>
          <p:cNvPr id="44" name="Shape 84">
            <a:extLst>
              <a:ext uri="{FF2B5EF4-FFF2-40B4-BE49-F238E27FC236}">
                <a16:creationId xmlns:a16="http://schemas.microsoft.com/office/drawing/2014/main" id="{9ED0B2BD-D873-0917-A750-6E008F6E14DC}"/>
              </a:ext>
            </a:extLst>
          </p:cNvPr>
          <p:cNvSpPr/>
          <p:nvPr userDrawn="1"/>
        </p:nvSpPr>
        <p:spPr>
          <a:xfrm>
            <a:off x="5561838" y="9272016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  <p:sp>
        <p:nvSpPr>
          <p:cNvPr id="45" name="Text 85">
            <a:extLst>
              <a:ext uri="{FF2B5EF4-FFF2-40B4-BE49-F238E27FC236}">
                <a16:creationId xmlns:a16="http://schemas.microsoft.com/office/drawing/2014/main" id="{660FA256-2654-E4E7-DAF7-EDAA9382E753}"/>
              </a:ext>
            </a:extLst>
          </p:cNvPr>
          <p:cNvSpPr/>
          <p:nvPr userDrawn="1"/>
        </p:nvSpPr>
        <p:spPr>
          <a:xfrm>
            <a:off x="5561838" y="9336023"/>
            <a:ext cx="4830318" cy="2213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Šta vaši nalazi znače u kontekstu teme?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 Glavni zaključak 1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 Glavni zaključak 2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 Glavni zaključak 3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Ograničenja analize i prijedlozi za buduća istraživanja.</a:t>
            </a:r>
            <a:endParaRPr lang="en-US" sz="1200" dirty="0"/>
          </a:p>
        </p:txBody>
      </p:sp>
      <p:sp>
        <p:nvSpPr>
          <p:cNvPr id="46" name="Shape 86">
            <a:extLst>
              <a:ext uri="{FF2B5EF4-FFF2-40B4-BE49-F238E27FC236}">
                <a16:creationId xmlns:a16="http://schemas.microsoft.com/office/drawing/2014/main" id="{698E30B0-C8D8-82C0-60C1-2D3C9D0C37F0}"/>
              </a:ext>
            </a:extLst>
          </p:cNvPr>
          <p:cNvSpPr/>
          <p:nvPr userDrawn="1"/>
        </p:nvSpPr>
        <p:spPr>
          <a:xfrm>
            <a:off x="5424678" y="11725524"/>
            <a:ext cx="5104638" cy="2529972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7" name="Shape 87">
            <a:extLst>
              <a:ext uri="{FF2B5EF4-FFF2-40B4-BE49-F238E27FC236}">
                <a16:creationId xmlns:a16="http://schemas.microsoft.com/office/drawing/2014/main" id="{16E0EE86-0E5C-9982-0865-C628BE7B8672}"/>
              </a:ext>
            </a:extLst>
          </p:cNvPr>
          <p:cNvSpPr/>
          <p:nvPr userDrawn="1"/>
        </p:nvSpPr>
        <p:spPr>
          <a:xfrm>
            <a:off x="5424678" y="11725524"/>
            <a:ext cx="5104638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8" name="Text 88">
            <a:extLst>
              <a:ext uri="{FF2B5EF4-FFF2-40B4-BE49-F238E27FC236}">
                <a16:creationId xmlns:a16="http://schemas.microsoft.com/office/drawing/2014/main" id="{3BA0BF84-B971-AF34-F904-929D98834D20}"/>
              </a:ext>
            </a:extLst>
          </p:cNvPr>
          <p:cNvSpPr/>
          <p:nvPr userDrawn="1"/>
        </p:nvSpPr>
        <p:spPr>
          <a:xfrm>
            <a:off x="5561838" y="11841092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LITERATURA</a:t>
            </a:r>
            <a:endParaRPr lang="en-US" sz="1400" dirty="0"/>
          </a:p>
        </p:txBody>
      </p:sp>
      <p:sp>
        <p:nvSpPr>
          <p:cNvPr id="49" name="Shape 89">
            <a:extLst>
              <a:ext uri="{FF2B5EF4-FFF2-40B4-BE49-F238E27FC236}">
                <a16:creationId xmlns:a16="http://schemas.microsoft.com/office/drawing/2014/main" id="{5F6AF20E-D7A0-1B42-E0EA-5F7248A82C98}"/>
              </a:ext>
            </a:extLst>
          </p:cNvPr>
          <p:cNvSpPr/>
          <p:nvPr userDrawn="1"/>
        </p:nvSpPr>
        <p:spPr>
          <a:xfrm>
            <a:off x="5561838" y="12194404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  <p:sp>
        <p:nvSpPr>
          <p:cNvPr id="50" name="Text 90">
            <a:extLst>
              <a:ext uri="{FF2B5EF4-FFF2-40B4-BE49-F238E27FC236}">
                <a16:creationId xmlns:a16="http://schemas.microsoft.com/office/drawing/2014/main" id="{4D015C98-E07F-C5ED-757A-1B355FC97918}"/>
              </a:ext>
            </a:extLst>
          </p:cNvPr>
          <p:cNvSpPr/>
          <p:nvPr userDrawn="1"/>
        </p:nvSpPr>
        <p:spPr>
          <a:xfrm>
            <a:off x="5561838" y="12298680"/>
            <a:ext cx="4830318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Navedite sve izvore (DIEC stil):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Članak: Prezime, I. (God.). Naslov. Časopis, Vol(Br), str. XX–XX.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Knjiga: Prezime, I. (God.). Naslov knjige. Izdavač. Grad.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Web: Autor (God.). Naslov. Dostupno na: URL. Pristupljeno: DD/MM/GGGG.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 tekstu: (Prezime, godina)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62945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0">
            <a:extLst>
              <a:ext uri="{FF2B5EF4-FFF2-40B4-BE49-F238E27FC236}">
                <a16:creationId xmlns:a16="http://schemas.microsoft.com/office/drawing/2014/main" id="{7984A23B-EE68-1E49-B80F-118317AF9E76}"/>
              </a:ext>
            </a:extLst>
          </p:cNvPr>
          <p:cNvSpPr/>
          <p:nvPr userDrawn="1"/>
        </p:nvSpPr>
        <p:spPr>
          <a:xfrm>
            <a:off x="10689336" y="-63"/>
            <a:ext cx="3840480" cy="15124176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21735E10-EB90-CA24-1496-F1CFEC910D82}"/>
              </a:ext>
            </a:extLst>
          </p:cNvPr>
          <p:cNvSpPr/>
          <p:nvPr userDrawn="1"/>
        </p:nvSpPr>
        <p:spPr>
          <a:xfrm>
            <a:off x="10689336" y="0"/>
            <a:ext cx="3840480" cy="137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54E641D4-E3A5-59A5-CFBF-876E89D79983}"/>
              </a:ext>
            </a:extLst>
          </p:cNvPr>
          <p:cNvSpPr/>
          <p:nvPr userDrawn="1"/>
        </p:nvSpPr>
        <p:spPr>
          <a:xfrm>
            <a:off x="10917936" y="2286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⚡  QUICK START GUIDE</a:t>
            </a:r>
            <a:endParaRPr lang="en-US" sz="12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7801108A-B8A3-5C77-1988-43F3DEFA92DA}"/>
              </a:ext>
            </a:extLst>
          </p:cNvPr>
          <p:cNvSpPr/>
          <p:nvPr userDrawn="1"/>
        </p:nvSpPr>
        <p:spPr>
          <a:xfrm>
            <a:off x="10917936" y="6583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8717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⚠  OVA KOLONA SE NEĆE ŠTAMPATI — vidljiva samo u editoru</a:t>
            </a:r>
            <a:endParaRPr lang="en-US" sz="8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8BC84386-3CE2-9168-02E9-71EC62A47CB5}"/>
              </a:ext>
            </a:extLst>
          </p:cNvPr>
          <p:cNvSpPr/>
          <p:nvPr userDrawn="1"/>
        </p:nvSpPr>
        <p:spPr>
          <a:xfrm>
            <a:off x="10799064" y="1005840"/>
            <a:ext cx="363931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18832CAD-D100-F2FE-26C5-9728553378DD}"/>
              </a:ext>
            </a:extLst>
          </p:cNvPr>
          <p:cNvSpPr/>
          <p:nvPr userDrawn="1"/>
        </p:nvSpPr>
        <p:spPr>
          <a:xfrm>
            <a:off x="10799064" y="1005840"/>
            <a:ext cx="3639312" cy="1325880"/>
          </a:xfrm>
          <a:prstGeom prst="rect">
            <a:avLst/>
          </a:prstGeom>
          <a:solidFill>
            <a:srgbClr val="2D2D44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5B5BB9A5-9CC6-70FA-6160-3CABE04F593A}"/>
              </a:ext>
            </a:extLst>
          </p:cNvPr>
          <p:cNvSpPr/>
          <p:nvPr userDrawn="1"/>
        </p:nvSpPr>
        <p:spPr>
          <a:xfrm>
            <a:off x="10917936" y="1408176"/>
            <a:ext cx="3429000" cy="0"/>
          </a:xfrm>
          <a:prstGeom prst="line">
            <a:avLst/>
          </a:prstGeom>
          <a:noFill/>
          <a:ln w="5080">
            <a:solidFill>
              <a:srgbClr val="F59E0B"/>
            </a:solidFill>
            <a:prstDash val="dash"/>
          </a:ln>
        </p:spPr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C03872F0-B6C2-E1C8-80AE-6CA7BE79DC26}"/>
              </a:ext>
            </a:extLst>
          </p:cNvPr>
          <p:cNvSpPr/>
          <p:nvPr userDrawn="1"/>
        </p:nvSpPr>
        <p:spPr>
          <a:xfrm>
            <a:off x="10917936" y="11155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UPUTSTVA ZA FORMATIRANJE</a:t>
            </a:r>
            <a:endParaRPr lang="en-US" sz="900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319BC406-C537-A3C9-81BA-C2F266AAAD01}"/>
              </a:ext>
            </a:extLst>
          </p:cNvPr>
          <p:cNvSpPr/>
          <p:nvPr userDrawn="1"/>
        </p:nvSpPr>
        <p:spPr>
          <a:xfrm>
            <a:off x="10917936" y="14630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Font: Times New Roman — svugdje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Naslov postera: 26pt, Bold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Naslovi sekcija: 14pt, Bold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Tekst: 12pt  |  Potpisi slika: 10pt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Margine: 2,0 cm  |  Naziv: Prezime1_Prezime2.pptx</a:t>
            </a:r>
            <a:endParaRPr lang="en-US" sz="800" dirty="0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496BCC35-2813-430B-8363-CBC148D09889}"/>
              </a:ext>
            </a:extLst>
          </p:cNvPr>
          <p:cNvSpPr/>
          <p:nvPr userDrawn="1"/>
        </p:nvSpPr>
        <p:spPr>
          <a:xfrm>
            <a:off x="10799064" y="2423160"/>
            <a:ext cx="363931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B32E0343-0E22-C0C3-768D-C8CDDEDBD16D}"/>
              </a:ext>
            </a:extLst>
          </p:cNvPr>
          <p:cNvSpPr/>
          <p:nvPr userDrawn="1"/>
        </p:nvSpPr>
        <p:spPr>
          <a:xfrm>
            <a:off x="10799064" y="2423160"/>
            <a:ext cx="3639312" cy="1325880"/>
          </a:xfrm>
          <a:prstGeom prst="rect">
            <a:avLst/>
          </a:prstGeom>
          <a:solidFill>
            <a:srgbClr val="2D2D44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0182E70F-7B8C-1037-454D-A3322505035C}"/>
              </a:ext>
            </a:extLst>
          </p:cNvPr>
          <p:cNvSpPr/>
          <p:nvPr userDrawn="1"/>
        </p:nvSpPr>
        <p:spPr>
          <a:xfrm>
            <a:off x="10917936" y="25328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PREDAJA I PRAVILA GRUPNOG RADA</a:t>
            </a:r>
            <a:endParaRPr lang="en-US" sz="900" dirty="0"/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6E4EDBEA-AE5A-5CC2-A0E8-86DE3F4DB430}"/>
              </a:ext>
            </a:extLst>
          </p:cNvPr>
          <p:cNvSpPr/>
          <p:nvPr userDrawn="1"/>
        </p:nvSpPr>
        <p:spPr>
          <a:xfrm>
            <a:off x="10917936" y="2825496"/>
            <a:ext cx="3429000" cy="0"/>
          </a:xfrm>
          <a:prstGeom prst="line">
            <a:avLst/>
          </a:prstGeom>
          <a:noFill/>
          <a:ln w="5080">
            <a:solidFill>
              <a:srgbClr val="DC2626"/>
            </a:solidFill>
            <a:prstDash val="dash"/>
          </a:ln>
        </p:spPr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39F7C225-6E53-0A24-6013-98C9B9A1C11F}"/>
              </a:ext>
            </a:extLst>
          </p:cNvPr>
          <p:cNvSpPr/>
          <p:nvPr userDrawn="1"/>
        </p:nvSpPr>
        <p:spPr>
          <a:xfrm>
            <a:off x="10917936" y="28803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Grupe od 2–3 studenta  |  Jedna .pptx po grupi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Svi autori navedeni u zaglavlju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Predajte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selena.kurtic@yahoo.com 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Rok: 5. juni 2026. (bez produžetaka)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Izvanredni posteri → DIEC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Zbornik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800" dirty="0"/>
          </a:p>
        </p:txBody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DAF77D38-590B-6E0D-F770-96E5C37C6458}"/>
              </a:ext>
            </a:extLst>
          </p:cNvPr>
          <p:cNvSpPr/>
          <p:nvPr userDrawn="1"/>
        </p:nvSpPr>
        <p:spPr>
          <a:xfrm>
            <a:off x="10799064" y="3840480"/>
            <a:ext cx="3639312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EE49D0B2-F9D1-51EF-A672-9F4E2398514B}"/>
              </a:ext>
            </a:extLst>
          </p:cNvPr>
          <p:cNvSpPr/>
          <p:nvPr userDrawn="1"/>
        </p:nvSpPr>
        <p:spPr>
          <a:xfrm>
            <a:off x="10799064" y="3840480"/>
            <a:ext cx="3639312" cy="1417320"/>
          </a:xfrm>
          <a:prstGeom prst="rect">
            <a:avLst/>
          </a:prstGeom>
          <a:solidFill>
            <a:srgbClr val="2D2D44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FAEDE132-7FBA-B391-8143-789FAB230B82}"/>
              </a:ext>
            </a:extLst>
          </p:cNvPr>
          <p:cNvSpPr/>
          <p:nvPr userDrawn="1"/>
        </p:nvSpPr>
        <p:spPr>
          <a:xfrm>
            <a:off x="10917936" y="39502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5CF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PRIJEDLOZI TEMATSKIH OBLASTI</a:t>
            </a:r>
            <a:endParaRPr lang="en-US" sz="900" dirty="0"/>
          </a:p>
        </p:txBody>
      </p:sp>
      <p:sp>
        <p:nvSpPr>
          <p:cNvPr id="28" name="Shape 18">
            <a:extLst>
              <a:ext uri="{FF2B5EF4-FFF2-40B4-BE49-F238E27FC236}">
                <a16:creationId xmlns:a16="http://schemas.microsoft.com/office/drawing/2014/main" id="{43E85FB5-5BE3-4A79-33A3-FCFBD975F50D}"/>
              </a:ext>
            </a:extLst>
          </p:cNvPr>
          <p:cNvSpPr/>
          <p:nvPr userDrawn="1"/>
        </p:nvSpPr>
        <p:spPr>
          <a:xfrm>
            <a:off x="10917936" y="4242816"/>
            <a:ext cx="3429000" cy="0"/>
          </a:xfrm>
          <a:prstGeom prst="line">
            <a:avLst/>
          </a:prstGeom>
          <a:noFill/>
          <a:ln w="5080">
            <a:solidFill>
              <a:srgbClr val="8B5CF6"/>
            </a:solidFill>
            <a:prstDash val="dash"/>
          </a:ln>
        </p:spPr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A7CAD93D-30B9-1F4C-8BB4-98FD90DA653D}"/>
              </a:ext>
            </a:extLst>
          </p:cNvPr>
          <p:cNvSpPr/>
          <p:nvPr userDrawn="1"/>
        </p:nvSpPr>
        <p:spPr>
          <a:xfrm>
            <a:off x="10917936" y="429768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Digitalna transformacija &amp; e-poslovanje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Društvene mreže i ljudsko ponašanje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AI, blockchain i nove tehnologije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Digitalna ekonomija &amp; kripto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Fake news  |  Digitalni turizam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Bilo koja tema s mjerljivim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podacima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800" dirty="0"/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D09A8C19-1AD1-F5DE-C463-13ED546B287C}"/>
              </a:ext>
            </a:extLst>
          </p:cNvPr>
          <p:cNvSpPr/>
          <p:nvPr userDrawn="1"/>
        </p:nvSpPr>
        <p:spPr>
          <a:xfrm>
            <a:off x="10799064" y="5349240"/>
            <a:ext cx="363931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Shape 20">
            <a:extLst>
              <a:ext uri="{FF2B5EF4-FFF2-40B4-BE49-F238E27FC236}">
                <a16:creationId xmlns:a16="http://schemas.microsoft.com/office/drawing/2014/main" id="{50562295-A556-057B-254C-DA7AC9FCEBCA}"/>
              </a:ext>
            </a:extLst>
          </p:cNvPr>
          <p:cNvSpPr/>
          <p:nvPr userDrawn="1"/>
        </p:nvSpPr>
        <p:spPr>
          <a:xfrm>
            <a:off x="10799064" y="5349240"/>
            <a:ext cx="3639312" cy="1234440"/>
          </a:xfrm>
          <a:prstGeom prst="rect">
            <a:avLst/>
          </a:prstGeom>
          <a:solidFill>
            <a:srgbClr val="2D2D44"/>
          </a:solidFill>
          <a:ln w="95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E5769825-B110-4930-8157-2DB0E62933D8}"/>
              </a:ext>
            </a:extLst>
          </p:cNvPr>
          <p:cNvSpPr/>
          <p:nvPr userDrawn="1"/>
        </p:nvSpPr>
        <p:spPr>
          <a:xfrm>
            <a:off x="10917936" y="54589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KAKO POČETI</a:t>
            </a:r>
            <a:endParaRPr lang="en-US" sz="900" dirty="0"/>
          </a:p>
        </p:txBody>
      </p:sp>
      <p:sp>
        <p:nvSpPr>
          <p:cNvPr id="33" name="Shape 23">
            <a:extLst>
              <a:ext uri="{FF2B5EF4-FFF2-40B4-BE49-F238E27FC236}">
                <a16:creationId xmlns:a16="http://schemas.microsoft.com/office/drawing/2014/main" id="{0D160DD9-220E-01A1-B8FE-B37BA7499AC6}"/>
              </a:ext>
            </a:extLst>
          </p:cNvPr>
          <p:cNvSpPr/>
          <p:nvPr userDrawn="1"/>
        </p:nvSpPr>
        <p:spPr>
          <a:xfrm>
            <a:off x="10917936" y="5751576"/>
            <a:ext cx="3429000" cy="0"/>
          </a:xfrm>
          <a:prstGeom prst="line">
            <a:avLst/>
          </a:prstGeom>
          <a:noFill/>
          <a:ln w="5080">
            <a:solidFill>
              <a:srgbClr val="0891B2"/>
            </a:solidFill>
            <a:prstDash val="dash"/>
          </a:ln>
        </p:spPr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70C44953-BBB5-6399-673A-BE34620F937E}"/>
              </a:ext>
            </a:extLst>
          </p:cNvPr>
          <p:cNvSpPr/>
          <p:nvPr userDrawn="1"/>
        </p:nvSpPr>
        <p:spPr>
          <a:xfrm>
            <a:off x="10917936" y="58064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Odaberite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temu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</a:t>
            </a:r>
            <a:b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</a:b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Nađite dataset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Učitajte u PyCharm  </a:t>
            </a:r>
            <a:b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</a:b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Uradite EDA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Napravite vizualizacije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Popunite sekcije i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predajte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800" dirty="0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A63363B8-8331-B902-3558-63AF9417485A}"/>
              </a:ext>
            </a:extLst>
          </p:cNvPr>
          <p:cNvSpPr/>
          <p:nvPr userDrawn="1"/>
        </p:nvSpPr>
        <p:spPr>
          <a:xfrm>
            <a:off x="10799064" y="6675120"/>
            <a:ext cx="363931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Shape 25">
            <a:extLst>
              <a:ext uri="{FF2B5EF4-FFF2-40B4-BE49-F238E27FC236}">
                <a16:creationId xmlns:a16="http://schemas.microsoft.com/office/drawing/2014/main" id="{6803757D-E293-2CC9-4B88-58A517D80692}"/>
              </a:ext>
            </a:extLst>
          </p:cNvPr>
          <p:cNvSpPr/>
          <p:nvPr userDrawn="1"/>
        </p:nvSpPr>
        <p:spPr>
          <a:xfrm>
            <a:off x="10799064" y="6675120"/>
            <a:ext cx="3639312" cy="1234440"/>
          </a:xfrm>
          <a:prstGeom prst="rect">
            <a:avLst/>
          </a:prstGeom>
          <a:solidFill>
            <a:srgbClr val="2D2D44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7" name="Text 27">
            <a:extLst>
              <a:ext uri="{FF2B5EF4-FFF2-40B4-BE49-F238E27FC236}">
                <a16:creationId xmlns:a16="http://schemas.microsoft.com/office/drawing/2014/main" id="{15CDEC25-78E8-6684-6224-BACE1C36BF74}"/>
              </a:ext>
            </a:extLst>
          </p:cNvPr>
          <p:cNvSpPr/>
          <p:nvPr userDrawn="1"/>
        </p:nvSpPr>
        <p:spPr>
          <a:xfrm>
            <a:off x="10917936" y="67848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GDJE NAĆI DATASET</a:t>
            </a:r>
            <a:endParaRPr lang="en-US" sz="900" dirty="0"/>
          </a:p>
        </p:txBody>
      </p:sp>
      <p:sp>
        <p:nvSpPr>
          <p:cNvPr id="38" name="Shape 28">
            <a:extLst>
              <a:ext uri="{FF2B5EF4-FFF2-40B4-BE49-F238E27FC236}">
                <a16:creationId xmlns:a16="http://schemas.microsoft.com/office/drawing/2014/main" id="{5800A855-EA1D-1C62-1BB1-16769E010A1B}"/>
              </a:ext>
            </a:extLst>
          </p:cNvPr>
          <p:cNvSpPr/>
          <p:nvPr userDrawn="1"/>
        </p:nvSpPr>
        <p:spPr>
          <a:xfrm>
            <a:off x="10917936" y="7077456"/>
            <a:ext cx="3429000" cy="0"/>
          </a:xfrm>
          <a:prstGeom prst="line">
            <a:avLst/>
          </a:prstGeom>
          <a:noFill/>
          <a:ln w="5080">
            <a:solidFill>
              <a:srgbClr val="F59E0B"/>
            </a:solidFill>
            <a:prstDash val="dash"/>
          </a:ln>
        </p:spPr>
      </p:sp>
      <p:sp>
        <p:nvSpPr>
          <p:cNvPr id="39" name="Text 29">
            <a:extLst>
              <a:ext uri="{FF2B5EF4-FFF2-40B4-BE49-F238E27FC236}">
                <a16:creationId xmlns:a16="http://schemas.microsoft.com/office/drawing/2014/main" id="{58A0F219-DC86-A656-8779-EEEA5C722E70}"/>
              </a:ext>
            </a:extLst>
          </p:cNvPr>
          <p:cNvSpPr/>
          <p:nvPr userDrawn="1"/>
        </p:nvSpPr>
        <p:spPr>
          <a:xfrm>
            <a:off x="10917936" y="71323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Vlastita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anketa  |  Web scraping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Titanic, Iris, MNIST — NISU dozvoljeni!</a:t>
            </a:r>
            <a:endParaRPr lang="en-US" sz="800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41FB5E57-E6BF-003D-EAD3-37C7AEDEBB60}"/>
              </a:ext>
            </a:extLst>
          </p:cNvPr>
          <p:cNvSpPr/>
          <p:nvPr userDrawn="1"/>
        </p:nvSpPr>
        <p:spPr>
          <a:xfrm>
            <a:off x="10799064" y="8001000"/>
            <a:ext cx="363931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0">
            <a:extLst>
              <a:ext uri="{FF2B5EF4-FFF2-40B4-BE49-F238E27FC236}">
                <a16:creationId xmlns:a16="http://schemas.microsoft.com/office/drawing/2014/main" id="{A8E394F2-7AC5-6A89-EC72-13AB3894A333}"/>
              </a:ext>
            </a:extLst>
          </p:cNvPr>
          <p:cNvSpPr/>
          <p:nvPr userDrawn="1"/>
        </p:nvSpPr>
        <p:spPr>
          <a:xfrm>
            <a:off x="10799064" y="8001000"/>
            <a:ext cx="3639312" cy="2103120"/>
          </a:xfrm>
          <a:prstGeom prst="rect">
            <a:avLst/>
          </a:prstGeom>
          <a:solidFill>
            <a:srgbClr val="2D2D44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42" name="Text 32">
            <a:extLst>
              <a:ext uri="{FF2B5EF4-FFF2-40B4-BE49-F238E27FC236}">
                <a16:creationId xmlns:a16="http://schemas.microsoft.com/office/drawing/2014/main" id="{D4641FF3-634C-AFFE-29D2-63E8BED4D57A}"/>
              </a:ext>
            </a:extLst>
          </p:cNvPr>
          <p:cNvSpPr/>
          <p:nvPr userDrawn="1"/>
        </p:nvSpPr>
        <p:spPr>
          <a:xfrm>
            <a:off x="10917936" y="81107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🐍  PYTHON CHEAT SHEET</a:t>
            </a:r>
            <a:endParaRPr lang="en-US" sz="900" dirty="0"/>
          </a:p>
        </p:txBody>
      </p:sp>
      <p:sp>
        <p:nvSpPr>
          <p:cNvPr id="43" name="Shape 33">
            <a:extLst>
              <a:ext uri="{FF2B5EF4-FFF2-40B4-BE49-F238E27FC236}">
                <a16:creationId xmlns:a16="http://schemas.microsoft.com/office/drawing/2014/main" id="{D0A75820-2DF5-A490-CE04-435C53D55004}"/>
              </a:ext>
            </a:extLst>
          </p:cNvPr>
          <p:cNvSpPr/>
          <p:nvPr userDrawn="1"/>
        </p:nvSpPr>
        <p:spPr>
          <a:xfrm>
            <a:off x="10917936" y="8403336"/>
            <a:ext cx="3429000" cy="0"/>
          </a:xfrm>
          <a:prstGeom prst="line">
            <a:avLst/>
          </a:prstGeom>
          <a:noFill/>
          <a:ln w="5080">
            <a:solidFill>
              <a:srgbClr val="16A34A"/>
            </a:solidFill>
            <a:prstDash val="dash"/>
          </a:ln>
        </p:spPr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CCE6255D-1494-FB0C-2FD7-7BC338EB8F11}"/>
              </a:ext>
            </a:extLst>
          </p:cNvPr>
          <p:cNvSpPr/>
          <p:nvPr userDrawn="1"/>
        </p:nvSpPr>
        <p:spPr>
          <a:xfrm>
            <a:off x="10917936" y="845820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 pandas as pd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 = pd.read_csv('podaci.csv')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df.head()  df.info()  df.describe()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df.dropna()   df.fillna(0)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df.drop_duplicates()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 matplotlib.pyplot as plt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 seaborn as sns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sns.histplot(df['kolona'])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plt.savefig('slika1.png', dpi=300)</a:t>
            </a:r>
            <a:endParaRPr lang="en-US" sz="800" dirty="0"/>
          </a:p>
        </p:txBody>
      </p:sp>
      <p:sp>
        <p:nvSpPr>
          <p:cNvPr id="45" name="Shape 36">
            <a:extLst>
              <a:ext uri="{FF2B5EF4-FFF2-40B4-BE49-F238E27FC236}">
                <a16:creationId xmlns:a16="http://schemas.microsoft.com/office/drawing/2014/main" id="{DFC9E329-222A-EE4B-AB44-0D6D3C98B081}"/>
              </a:ext>
            </a:extLst>
          </p:cNvPr>
          <p:cNvSpPr/>
          <p:nvPr userDrawn="1"/>
        </p:nvSpPr>
        <p:spPr>
          <a:xfrm>
            <a:off x="10799064" y="10195560"/>
            <a:ext cx="363931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6" name="Shape 35">
            <a:extLst>
              <a:ext uri="{FF2B5EF4-FFF2-40B4-BE49-F238E27FC236}">
                <a16:creationId xmlns:a16="http://schemas.microsoft.com/office/drawing/2014/main" id="{AF54F695-0A57-C1BD-4B30-F4595E6C0DFC}"/>
              </a:ext>
            </a:extLst>
          </p:cNvPr>
          <p:cNvSpPr/>
          <p:nvPr userDrawn="1"/>
        </p:nvSpPr>
        <p:spPr>
          <a:xfrm>
            <a:off x="10799064" y="10195560"/>
            <a:ext cx="3639312" cy="1554480"/>
          </a:xfrm>
          <a:prstGeom prst="rect">
            <a:avLst/>
          </a:prstGeom>
          <a:solidFill>
            <a:srgbClr val="2D2D44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47" name="Text 37">
            <a:extLst>
              <a:ext uri="{FF2B5EF4-FFF2-40B4-BE49-F238E27FC236}">
                <a16:creationId xmlns:a16="http://schemas.microsoft.com/office/drawing/2014/main" id="{41025DCB-8CC9-EAC5-8262-893CD041FB92}"/>
              </a:ext>
            </a:extLst>
          </p:cNvPr>
          <p:cNvSpPr/>
          <p:nvPr userDrawn="1"/>
        </p:nvSpPr>
        <p:spPr>
          <a:xfrm>
            <a:off x="10917936" y="103052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CHECKLIST PRIJE PREDAJE</a:t>
            </a:r>
            <a:endParaRPr lang="en-US" sz="900" dirty="0"/>
          </a:p>
        </p:txBody>
      </p:sp>
      <p:sp>
        <p:nvSpPr>
          <p:cNvPr id="48" name="Shape 38">
            <a:extLst>
              <a:ext uri="{FF2B5EF4-FFF2-40B4-BE49-F238E27FC236}">
                <a16:creationId xmlns:a16="http://schemas.microsoft.com/office/drawing/2014/main" id="{CB3E1A86-7321-47B6-1166-61380AFEE2B5}"/>
              </a:ext>
            </a:extLst>
          </p:cNvPr>
          <p:cNvSpPr/>
          <p:nvPr userDrawn="1"/>
        </p:nvSpPr>
        <p:spPr>
          <a:xfrm>
            <a:off x="10917936" y="10597896"/>
            <a:ext cx="3429000" cy="0"/>
          </a:xfrm>
          <a:prstGeom prst="line">
            <a:avLst/>
          </a:prstGeom>
          <a:noFill/>
          <a:ln w="5080">
            <a:solidFill>
              <a:srgbClr val="DC2626"/>
            </a:solidFill>
            <a:prstDash val="dash"/>
          </a:ln>
        </p:spPr>
      </p:sp>
      <p:sp>
        <p:nvSpPr>
          <p:cNvPr id="49" name="Text 39">
            <a:extLst>
              <a:ext uri="{FF2B5EF4-FFF2-40B4-BE49-F238E27FC236}">
                <a16:creationId xmlns:a16="http://schemas.microsoft.com/office/drawing/2014/main" id="{9C14ECB1-5CC4-DECF-F7C3-AC8F7C128CCB}"/>
              </a:ext>
            </a:extLst>
          </p:cNvPr>
          <p:cNvSpPr/>
          <p:nvPr userDrawn="1"/>
        </p:nvSpPr>
        <p:spPr>
          <a:xfrm>
            <a:off x="10917936" y="106527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Naslov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 autori (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ime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+n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prezime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email 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Stvarni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dataset — min. 200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redova</a:t>
            </a:r>
            <a:endParaRPr lang="en-US" sz="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Sažetak</a:t>
            </a:r>
            <a:endParaRPr lang="en-US" sz="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grafikona visoke rezolucije (dpi=300)</a:t>
            </a:r>
            <a:endParaRPr lang="en-US" sz="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Sve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sekcije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popunjene</a:t>
            </a:r>
            <a:endParaRPr lang="en-US" sz="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Literatura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po DIEC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stilu</a:t>
            </a:r>
            <a:endParaRPr lang="en-US" sz="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Predano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do 5. juna 2026. </a:t>
            </a:r>
            <a:endParaRPr lang="en-US" sz="80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E418725A-0F48-0AB9-CADA-714C90927E86}"/>
              </a:ext>
            </a:extLst>
          </p:cNvPr>
          <p:cNvSpPr/>
          <p:nvPr userDrawn="1"/>
        </p:nvSpPr>
        <p:spPr>
          <a:xfrm>
            <a:off x="10799064" y="11841480"/>
            <a:ext cx="3639312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1" name="Shape 40">
            <a:extLst>
              <a:ext uri="{FF2B5EF4-FFF2-40B4-BE49-F238E27FC236}">
                <a16:creationId xmlns:a16="http://schemas.microsoft.com/office/drawing/2014/main" id="{59B50075-A0CC-E4B3-5795-FA410DC63EA1}"/>
              </a:ext>
            </a:extLst>
          </p:cNvPr>
          <p:cNvSpPr/>
          <p:nvPr userDrawn="1"/>
        </p:nvSpPr>
        <p:spPr>
          <a:xfrm>
            <a:off x="10799064" y="11841480"/>
            <a:ext cx="3639312" cy="1325880"/>
          </a:xfrm>
          <a:prstGeom prst="rect">
            <a:avLst/>
          </a:prstGeom>
          <a:solidFill>
            <a:srgbClr val="2D2D44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52" name="Text 42">
            <a:extLst>
              <a:ext uri="{FF2B5EF4-FFF2-40B4-BE49-F238E27FC236}">
                <a16:creationId xmlns:a16="http://schemas.microsoft.com/office/drawing/2014/main" id="{F9CC5762-ADD2-62FA-313C-ECB1738BB375}"/>
              </a:ext>
            </a:extLst>
          </p:cNvPr>
          <p:cNvSpPr/>
          <p:nvPr userDrawn="1"/>
        </p:nvSpPr>
        <p:spPr>
          <a:xfrm>
            <a:off x="10917936" y="119512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5CF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SAVJETI ZA ODLIČAN POSTER</a:t>
            </a:r>
            <a:endParaRPr lang="en-US" sz="900" dirty="0"/>
          </a:p>
        </p:txBody>
      </p:sp>
      <p:sp>
        <p:nvSpPr>
          <p:cNvPr id="53" name="Shape 43">
            <a:extLst>
              <a:ext uri="{FF2B5EF4-FFF2-40B4-BE49-F238E27FC236}">
                <a16:creationId xmlns:a16="http://schemas.microsoft.com/office/drawing/2014/main" id="{22406E13-28BA-80DF-9C97-2A9E71C8B88B}"/>
              </a:ext>
            </a:extLst>
          </p:cNvPr>
          <p:cNvSpPr/>
          <p:nvPr userDrawn="1"/>
        </p:nvSpPr>
        <p:spPr>
          <a:xfrm>
            <a:off x="10917936" y="12243816"/>
            <a:ext cx="3429000" cy="0"/>
          </a:xfrm>
          <a:prstGeom prst="line">
            <a:avLst/>
          </a:prstGeom>
          <a:noFill/>
          <a:ln w="5080">
            <a:solidFill>
              <a:srgbClr val="8B5CF6"/>
            </a:solidFill>
            <a:prstDash val="dash"/>
          </a:ln>
        </p:spPr>
      </p:sp>
      <p:sp>
        <p:nvSpPr>
          <p:cNvPr id="54" name="Text 44">
            <a:extLst>
              <a:ext uri="{FF2B5EF4-FFF2-40B4-BE49-F238E27FC236}">
                <a16:creationId xmlns:a16="http://schemas.microsoft.com/office/drawing/2014/main" id="{AD17A925-BF9A-48C3-6286-456579038AD5}"/>
              </a:ext>
            </a:extLst>
          </p:cNvPr>
          <p:cNvSpPr/>
          <p:nvPr userDrawn="1"/>
        </p:nvSpPr>
        <p:spPr>
          <a:xfrm>
            <a:off x="10917936" y="122986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Grafikon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priča priču — manje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teksta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!</a:t>
            </a:r>
            <a:endParaRPr lang="en-US" sz="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plt.savefig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(dpi=300) za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oštre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slike</a:t>
            </a:r>
            <a:endParaRPr lang="en-US" sz="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Bolje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jedan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jasan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zaključak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nego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pet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nejasnih</a:t>
            </a:r>
            <a:endParaRPr lang="en-US" sz="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Prednost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A3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postera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čitljivo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metar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udaljenosti</a:t>
            </a:r>
            <a:endParaRPr lang="en-US" sz="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Izvanredni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poster,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mogućnost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da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rad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uđe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u DIEC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Zbornik</a:t>
            </a:r>
            <a:endParaRPr lang="en-US" sz="800" dirty="0"/>
          </a:p>
        </p:txBody>
      </p:sp>
      <p:sp>
        <p:nvSpPr>
          <p:cNvPr id="57" name="Shape 6">
            <a:extLst>
              <a:ext uri="{FF2B5EF4-FFF2-40B4-BE49-F238E27FC236}">
                <a16:creationId xmlns:a16="http://schemas.microsoft.com/office/drawing/2014/main" id="{7DF0FDDB-A325-CDC4-DC79-4D454896937F}"/>
              </a:ext>
            </a:extLst>
          </p:cNvPr>
          <p:cNvSpPr/>
          <p:nvPr userDrawn="1"/>
        </p:nvSpPr>
        <p:spPr>
          <a:xfrm>
            <a:off x="10789920" y="997567"/>
            <a:ext cx="363931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Shape 11">
            <a:extLst>
              <a:ext uri="{FF2B5EF4-FFF2-40B4-BE49-F238E27FC236}">
                <a16:creationId xmlns:a16="http://schemas.microsoft.com/office/drawing/2014/main" id="{1C2EC3AF-C9DC-F48F-0D03-171C463AAEE9}"/>
              </a:ext>
            </a:extLst>
          </p:cNvPr>
          <p:cNvSpPr/>
          <p:nvPr userDrawn="1"/>
        </p:nvSpPr>
        <p:spPr>
          <a:xfrm>
            <a:off x="10791810" y="2425995"/>
            <a:ext cx="363931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9" name="Shape 16">
            <a:extLst>
              <a:ext uri="{FF2B5EF4-FFF2-40B4-BE49-F238E27FC236}">
                <a16:creationId xmlns:a16="http://schemas.microsoft.com/office/drawing/2014/main" id="{1694BB11-2268-CC38-78BA-81B0EBFB6F48}"/>
              </a:ext>
            </a:extLst>
          </p:cNvPr>
          <p:cNvSpPr/>
          <p:nvPr userDrawn="1"/>
        </p:nvSpPr>
        <p:spPr>
          <a:xfrm>
            <a:off x="10789920" y="3848206"/>
            <a:ext cx="3639312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0" name="Shape 21">
            <a:extLst>
              <a:ext uri="{FF2B5EF4-FFF2-40B4-BE49-F238E27FC236}">
                <a16:creationId xmlns:a16="http://schemas.microsoft.com/office/drawing/2014/main" id="{E52049EC-1078-72C5-4C45-9BC7E81A1C7B}"/>
              </a:ext>
            </a:extLst>
          </p:cNvPr>
          <p:cNvSpPr/>
          <p:nvPr userDrawn="1"/>
        </p:nvSpPr>
        <p:spPr>
          <a:xfrm>
            <a:off x="10789920" y="5356966"/>
            <a:ext cx="363931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1" name="Shape 26">
            <a:extLst>
              <a:ext uri="{FF2B5EF4-FFF2-40B4-BE49-F238E27FC236}">
                <a16:creationId xmlns:a16="http://schemas.microsoft.com/office/drawing/2014/main" id="{EF20E537-BB03-C863-9F3B-79EA7234971A}"/>
              </a:ext>
            </a:extLst>
          </p:cNvPr>
          <p:cNvSpPr/>
          <p:nvPr userDrawn="1"/>
        </p:nvSpPr>
        <p:spPr>
          <a:xfrm>
            <a:off x="10791810" y="6693408"/>
            <a:ext cx="363931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Shape 31">
            <a:extLst>
              <a:ext uri="{FF2B5EF4-FFF2-40B4-BE49-F238E27FC236}">
                <a16:creationId xmlns:a16="http://schemas.microsoft.com/office/drawing/2014/main" id="{6EA00D21-C910-379C-DCF5-892037593893}"/>
              </a:ext>
            </a:extLst>
          </p:cNvPr>
          <p:cNvSpPr/>
          <p:nvPr userDrawn="1"/>
        </p:nvSpPr>
        <p:spPr>
          <a:xfrm>
            <a:off x="10789920" y="8019288"/>
            <a:ext cx="363931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3" name="Shape 36">
            <a:extLst>
              <a:ext uri="{FF2B5EF4-FFF2-40B4-BE49-F238E27FC236}">
                <a16:creationId xmlns:a16="http://schemas.microsoft.com/office/drawing/2014/main" id="{6BD668CC-8C94-261D-5DEE-41752DAD5FA3}"/>
              </a:ext>
            </a:extLst>
          </p:cNvPr>
          <p:cNvSpPr/>
          <p:nvPr userDrawn="1"/>
        </p:nvSpPr>
        <p:spPr>
          <a:xfrm>
            <a:off x="10789920" y="10203690"/>
            <a:ext cx="363931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4" name="Shape 41">
            <a:extLst>
              <a:ext uri="{FF2B5EF4-FFF2-40B4-BE49-F238E27FC236}">
                <a16:creationId xmlns:a16="http://schemas.microsoft.com/office/drawing/2014/main" id="{D7ACA216-17EF-1E35-772E-9C823CE5D862}"/>
              </a:ext>
            </a:extLst>
          </p:cNvPr>
          <p:cNvSpPr/>
          <p:nvPr userDrawn="1"/>
        </p:nvSpPr>
        <p:spPr>
          <a:xfrm>
            <a:off x="10789920" y="11841480"/>
            <a:ext cx="3639312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5" name="Shape 96">
            <a:extLst>
              <a:ext uri="{FF2B5EF4-FFF2-40B4-BE49-F238E27FC236}">
                <a16:creationId xmlns:a16="http://schemas.microsoft.com/office/drawing/2014/main" id="{2C062931-94C2-B756-B9FA-C66DEB7E41F3}"/>
              </a:ext>
            </a:extLst>
          </p:cNvPr>
          <p:cNvSpPr/>
          <p:nvPr userDrawn="1"/>
        </p:nvSpPr>
        <p:spPr>
          <a:xfrm>
            <a:off x="10799064" y="13277088"/>
            <a:ext cx="3639312" cy="1463040"/>
          </a:xfrm>
          <a:prstGeom prst="rect">
            <a:avLst/>
          </a:prstGeom>
          <a:solidFill>
            <a:srgbClr val="2D2D44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66" name="Shape 97">
            <a:extLst>
              <a:ext uri="{FF2B5EF4-FFF2-40B4-BE49-F238E27FC236}">
                <a16:creationId xmlns:a16="http://schemas.microsoft.com/office/drawing/2014/main" id="{84C68569-FEE1-9496-506A-418219DC7072}"/>
              </a:ext>
            </a:extLst>
          </p:cNvPr>
          <p:cNvSpPr/>
          <p:nvPr userDrawn="1"/>
        </p:nvSpPr>
        <p:spPr>
          <a:xfrm>
            <a:off x="10799064" y="13277088"/>
            <a:ext cx="363931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7" name="Text 98">
            <a:extLst>
              <a:ext uri="{FF2B5EF4-FFF2-40B4-BE49-F238E27FC236}">
                <a16:creationId xmlns:a16="http://schemas.microsoft.com/office/drawing/2014/main" id="{148D1D35-919F-F2CC-F758-09BC7CE0A620}"/>
              </a:ext>
            </a:extLst>
          </p:cNvPr>
          <p:cNvSpPr/>
          <p:nvPr userDrawn="1"/>
        </p:nvSpPr>
        <p:spPr>
          <a:xfrm>
            <a:off x="10917936" y="1338681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NAPOMENA ZA STUDENTE</a:t>
            </a:r>
            <a:endParaRPr lang="en-US" sz="900" dirty="0"/>
          </a:p>
        </p:txBody>
      </p:sp>
      <p:sp>
        <p:nvSpPr>
          <p:cNvPr id="68" name="Shape 99">
            <a:extLst>
              <a:ext uri="{FF2B5EF4-FFF2-40B4-BE49-F238E27FC236}">
                <a16:creationId xmlns:a16="http://schemas.microsoft.com/office/drawing/2014/main" id="{C89071E2-4B0B-56BD-4514-6A1C9A07C5D9}"/>
              </a:ext>
            </a:extLst>
          </p:cNvPr>
          <p:cNvSpPr/>
          <p:nvPr userDrawn="1"/>
        </p:nvSpPr>
        <p:spPr>
          <a:xfrm>
            <a:off x="10917936" y="13679424"/>
            <a:ext cx="3429000" cy="0"/>
          </a:xfrm>
          <a:prstGeom prst="line">
            <a:avLst/>
          </a:prstGeom>
          <a:noFill/>
          <a:ln w="5080">
            <a:solidFill>
              <a:srgbClr val="0891B2"/>
            </a:solidFill>
            <a:prstDash val="dash"/>
          </a:ln>
        </p:spPr>
      </p:sp>
      <p:sp>
        <p:nvSpPr>
          <p:cNvPr id="69" name="Text 100">
            <a:extLst>
              <a:ext uri="{FF2B5EF4-FFF2-40B4-BE49-F238E27FC236}">
                <a16:creationId xmlns:a16="http://schemas.microsoft.com/office/drawing/2014/main" id="{A41810F0-F471-A642-7427-E681767A556B}"/>
              </a:ext>
            </a:extLst>
          </p:cNvPr>
          <p:cNvSpPr/>
          <p:nvPr userDrawn="1"/>
        </p:nvSpPr>
        <p:spPr>
          <a:xfrm>
            <a:off x="10917936" y="1373428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Slobodno možete mijenjati veličinu i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poziciju SVIH okvira prema potrebi —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uključujući i okvire za grafikone.</a:t>
            </a:r>
            <a:endParaRPr lang="en-US" sz="800" dirty="0"/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Jednostavno kliknite na okvir i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povucite ili resize-ajte po želji. ✓</a:t>
            </a:r>
            <a:endParaRPr lang="en-US" sz="800" dirty="0"/>
          </a:p>
        </p:txBody>
      </p:sp>
      <p:sp>
        <p:nvSpPr>
          <p:cNvPr id="70" name="Text 46">
            <a:extLst>
              <a:ext uri="{FF2B5EF4-FFF2-40B4-BE49-F238E27FC236}">
                <a16:creationId xmlns:a16="http://schemas.microsoft.com/office/drawing/2014/main" id="{19B60652-96AC-AEE8-6C65-552B8CE9EC6F}"/>
              </a:ext>
            </a:extLst>
          </p:cNvPr>
          <p:cNvSpPr/>
          <p:nvPr userDrawn="1"/>
        </p:nvSpPr>
        <p:spPr>
          <a:xfrm>
            <a:off x="10917936" y="147342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mr.</a:t>
            </a:r>
            <a:r>
              <a:rPr lang="en-US" sz="75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Selena </a:t>
            </a:r>
            <a:r>
              <a:rPr lang="en-US" sz="75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Kurtić</a:t>
            </a:r>
            <a:r>
              <a:rPr lang="en-US" sz="75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75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dipl.ing.el</a:t>
            </a:r>
            <a:r>
              <a:rPr lang="en-US" sz="75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</a:p>
          <a:p>
            <a:pPr marL="0" indent="0" algn="ctr">
              <a:buNone/>
            </a:pPr>
            <a:r>
              <a:rPr lang="en-US" sz="75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Uvod</a:t>
            </a:r>
            <a:r>
              <a:rPr lang="en-US" sz="75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u analizu podataka  |  2025/2026</a:t>
            </a:r>
            <a:endParaRPr lang="en-US" sz="7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479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51">
            <a:extLst>
              <a:ext uri="{FF2B5EF4-FFF2-40B4-BE49-F238E27FC236}">
                <a16:creationId xmlns:a16="http://schemas.microsoft.com/office/drawing/2014/main" id="{A198121B-D645-B12A-227B-F0EB83A3F2D1}"/>
              </a:ext>
            </a:extLst>
          </p:cNvPr>
          <p:cNvSpPr/>
          <p:nvPr/>
        </p:nvSpPr>
        <p:spPr>
          <a:xfrm>
            <a:off x="457200" y="548640"/>
            <a:ext cx="8860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dirty="0">
                <a:solidFill>
                  <a:srgbClr val="FFFFFF"/>
                </a:solidFill>
                <a:ea typeface="+mn-lt"/>
                <a:cs typeface="+mn-lt"/>
              </a:rPr>
              <a:t>YOUTUBE TRENDING ANALYSIS: ANALIZA POPULARNOSTI I ENGAGEMENTA VIDEOZAPISA</a:t>
            </a:r>
            <a:endParaRPr lang="sr-Latn-RS" dirty="0"/>
          </a:p>
        </p:txBody>
      </p:sp>
      <p:sp>
        <p:nvSpPr>
          <p:cNvPr id="12" name="Text 52">
            <a:extLst>
              <a:ext uri="{FF2B5EF4-FFF2-40B4-BE49-F238E27FC236}">
                <a16:creationId xmlns:a16="http://schemas.microsoft.com/office/drawing/2014/main" id="{79CD2332-9296-90E6-10BA-8686C9036D2E}"/>
              </a:ext>
            </a:extLst>
          </p:cNvPr>
          <p:cNvSpPr/>
          <p:nvPr/>
        </p:nvSpPr>
        <p:spPr>
          <a:xfrm>
            <a:off x="457200" y="1627632"/>
            <a:ext cx="9774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CBD5E1"/>
                </a:solidFill>
                <a:latin typeface="Times New Roman"/>
                <a:ea typeface="Times New Roman" pitchFamily="34" charset="-122"/>
                <a:cs typeface="Times New Roman"/>
              </a:rPr>
              <a:t>Autor Hanić Elmir hanicelmir@gmail.com  | </a:t>
            </a:r>
            <a:endParaRPr lang="en-US" sz="1000" dirty="0">
              <a:latin typeface="Times New Roman"/>
              <a:cs typeface="Times New Roman"/>
            </a:endParaRPr>
          </a:p>
        </p:txBody>
      </p:sp>
      <p:sp>
        <p:nvSpPr>
          <p:cNvPr id="13" name="Shape 58">
            <a:extLst>
              <a:ext uri="{FF2B5EF4-FFF2-40B4-BE49-F238E27FC236}">
                <a16:creationId xmlns:a16="http://schemas.microsoft.com/office/drawing/2014/main" id="{0D67A75A-45D6-A08F-7080-6E2BEBD304D4}"/>
              </a:ext>
            </a:extLst>
          </p:cNvPr>
          <p:cNvSpPr/>
          <p:nvPr/>
        </p:nvSpPr>
        <p:spPr>
          <a:xfrm>
            <a:off x="160020" y="2788920"/>
            <a:ext cx="510463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59">
            <a:extLst>
              <a:ext uri="{FF2B5EF4-FFF2-40B4-BE49-F238E27FC236}">
                <a16:creationId xmlns:a16="http://schemas.microsoft.com/office/drawing/2014/main" id="{D0B89E82-5321-606D-E183-8025FE09BFD6}"/>
              </a:ext>
            </a:extLst>
          </p:cNvPr>
          <p:cNvSpPr/>
          <p:nvPr/>
        </p:nvSpPr>
        <p:spPr>
          <a:xfrm>
            <a:off x="160020" y="2788920"/>
            <a:ext cx="5104638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60">
            <a:extLst>
              <a:ext uri="{FF2B5EF4-FFF2-40B4-BE49-F238E27FC236}">
                <a16:creationId xmlns:a16="http://schemas.microsoft.com/office/drawing/2014/main" id="{EEDAA78B-E749-AC46-5AB6-DFC466F2BA49}"/>
              </a:ext>
            </a:extLst>
          </p:cNvPr>
          <p:cNvSpPr/>
          <p:nvPr/>
        </p:nvSpPr>
        <p:spPr>
          <a:xfrm>
            <a:off x="297180" y="2935224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SAŽETAK</a:t>
            </a:r>
            <a:endParaRPr lang="en-US" sz="1400" dirty="0"/>
          </a:p>
        </p:txBody>
      </p:sp>
      <p:sp>
        <p:nvSpPr>
          <p:cNvPr id="16" name="Shape 61">
            <a:extLst>
              <a:ext uri="{FF2B5EF4-FFF2-40B4-BE49-F238E27FC236}">
                <a16:creationId xmlns:a16="http://schemas.microsoft.com/office/drawing/2014/main" id="{EFB60C95-5BB9-E086-B6DD-1F36E589BD64}"/>
              </a:ext>
            </a:extLst>
          </p:cNvPr>
          <p:cNvSpPr/>
          <p:nvPr/>
        </p:nvSpPr>
        <p:spPr>
          <a:xfrm>
            <a:off x="297180" y="3319272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  <p:sp>
        <p:nvSpPr>
          <p:cNvPr id="17" name="Text 62">
            <a:extLst>
              <a:ext uri="{FF2B5EF4-FFF2-40B4-BE49-F238E27FC236}">
                <a16:creationId xmlns:a16="http://schemas.microsoft.com/office/drawing/2014/main" id="{4A15B03E-117C-D7A9-C696-F9096B5C9A22}"/>
              </a:ext>
            </a:extLst>
          </p:cNvPr>
          <p:cNvSpPr/>
          <p:nvPr/>
        </p:nvSpPr>
        <p:spPr>
          <a:xfrm>
            <a:off x="297180" y="3161280"/>
            <a:ext cx="483031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Ovo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istraživanje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analizira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obrasce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popularnosti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i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angažmana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YouTube videa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koji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su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se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pojavili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na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Trending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listi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u periodu od 2020. do 2024.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godine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. Analiza je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provedena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nad 268.704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zapisa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nakon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čišćenja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podataka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,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koji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predstavljaju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47.142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različita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videa i 16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originalnih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varijabli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.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Provedena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je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eksplorativna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analiza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podataka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, analiza engagement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rate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-a te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klasifikacija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pomoću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Random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Forest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i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Logistic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Regression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modela.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Rezultati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pokazuju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značajne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razlike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između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kategorija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, dok je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kategorija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videa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najvažnija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varijabla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u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Random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Forest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 modelu, s 82,76% </a:t>
            </a:r>
            <a:r>
              <a:rPr lang="pl-PL" sz="1100" dirty="0" err="1">
                <a:solidFill>
                  <a:srgbClr val="9CA3AF"/>
                </a:solidFill>
                <a:ea typeface="+mn-lt"/>
                <a:cs typeface="+mn-lt"/>
              </a:rPr>
              <a:t>važnosti</a:t>
            </a:r>
            <a:r>
              <a:rPr lang="pl-PL" sz="1100" dirty="0">
                <a:solidFill>
                  <a:srgbClr val="9CA3AF"/>
                </a:solidFill>
                <a:ea typeface="+mn-lt"/>
                <a:cs typeface="+mn-lt"/>
              </a:rPr>
              <a:t>.</a:t>
            </a:r>
            <a:endParaRPr lang="sr-Latn-RS" sz="1100">
              <a:ea typeface="+mn-lt"/>
              <a:cs typeface="+mn-lt"/>
            </a:endParaRPr>
          </a:p>
        </p:txBody>
      </p:sp>
      <p:sp>
        <p:nvSpPr>
          <p:cNvPr id="18" name="Shape 63">
            <a:extLst>
              <a:ext uri="{FF2B5EF4-FFF2-40B4-BE49-F238E27FC236}">
                <a16:creationId xmlns:a16="http://schemas.microsoft.com/office/drawing/2014/main" id="{2BFB5975-56E3-7625-3087-2DBC3A397816}"/>
              </a:ext>
            </a:extLst>
          </p:cNvPr>
          <p:cNvSpPr/>
          <p:nvPr/>
        </p:nvSpPr>
        <p:spPr>
          <a:xfrm>
            <a:off x="160020" y="4507992"/>
            <a:ext cx="510463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64">
            <a:extLst>
              <a:ext uri="{FF2B5EF4-FFF2-40B4-BE49-F238E27FC236}">
                <a16:creationId xmlns:a16="http://schemas.microsoft.com/office/drawing/2014/main" id="{A249AEB4-E1E9-F8F9-0EBA-2C7A8858CD95}"/>
              </a:ext>
            </a:extLst>
          </p:cNvPr>
          <p:cNvSpPr/>
          <p:nvPr/>
        </p:nvSpPr>
        <p:spPr>
          <a:xfrm>
            <a:off x="160020" y="4507992"/>
            <a:ext cx="5104638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65">
            <a:extLst>
              <a:ext uri="{FF2B5EF4-FFF2-40B4-BE49-F238E27FC236}">
                <a16:creationId xmlns:a16="http://schemas.microsoft.com/office/drawing/2014/main" id="{CBC24586-87BD-2942-A83C-7223F56A066D}"/>
              </a:ext>
            </a:extLst>
          </p:cNvPr>
          <p:cNvSpPr/>
          <p:nvPr/>
        </p:nvSpPr>
        <p:spPr>
          <a:xfrm>
            <a:off x="297180" y="4654296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UVOD I ISTRAŽIVAČKO PITANJE</a:t>
            </a:r>
            <a:endParaRPr lang="en-US" sz="1400" dirty="0"/>
          </a:p>
        </p:txBody>
      </p:sp>
      <p:sp>
        <p:nvSpPr>
          <p:cNvPr id="21" name="Shape 66">
            <a:extLst>
              <a:ext uri="{FF2B5EF4-FFF2-40B4-BE49-F238E27FC236}">
                <a16:creationId xmlns:a16="http://schemas.microsoft.com/office/drawing/2014/main" id="{B79D5FEA-4CB2-D230-AD5F-5E06905284EF}"/>
              </a:ext>
            </a:extLst>
          </p:cNvPr>
          <p:cNvSpPr/>
          <p:nvPr/>
        </p:nvSpPr>
        <p:spPr>
          <a:xfrm>
            <a:off x="297180" y="5038344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  <p:sp>
        <p:nvSpPr>
          <p:cNvPr id="22" name="Text 67">
            <a:extLst>
              <a:ext uri="{FF2B5EF4-FFF2-40B4-BE49-F238E27FC236}">
                <a16:creationId xmlns:a16="http://schemas.microsoft.com/office/drawing/2014/main" id="{DA495CB9-8957-0EC0-7F89-9B14E7338422}"/>
              </a:ext>
            </a:extLst>
          </p:cNvPr>
          <p:cNvSpPr/>
          <p:nvPr/>
        </p:nvSpPr>
        <p:spPr>
          <a:xfrm>
            <a:off x="297180" y="5102352"/>
            <a:ext cx="483031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Istraživačko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pitanje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:</a:t>
            </a:r>
            <a:b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</a:b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Koje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karakteristike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YouTube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videa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najviše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utiču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na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njihovu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popularnost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i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engagement,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te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koliko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uspješno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možemo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predvidjeti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visoki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engagement?</a:t>
            </a:r>
            <a:endParaRPr lang="sr-Latn-RS" dirty="0"/>
          </a:p>
          <a:p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Hipoteza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H1:</a:t>
            </a:r>
            <a:endParaRPr lang="en-US" dirty="0"/>
          </a:p>
          <a:p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Kategorija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videa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značajno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je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povezana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s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nivoom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engagementa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i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predstavlja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važan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prediktor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visokog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engagementa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9CA3AF"/>
              </a:solidFill>
              <a:latin typeface="Times New Roman"/>
              <a:cs typeface="Times New Roman"/>
            </a:endParaRPr>
          </a:p>
        </p:txBody>
      </p:sp>
      <p:sp>
        <p:nvSpPr>
          <p:cNvPr id="23" name="Shape 68">
            <a:extLst>
              <a:ext uri="{FF2B5EF4-FFF2-40B4-BE49-F238E27FC236}">
                <a16:creationId xmlns:a16="http://schemas.microsoft.com/office/drawing/2014/main" id="{216CB328-C9B6-7160-5CDC-0EB70BA19136}"/>
              </a:ext>
            </a:extLst>
          </p:cNvPr>
          <p:cNvSpPr/>
          <p:nvPr/>
        </p:nvSpPr>
        <p:spPr>
          <a:xfrm>
            <a:off x="160020" y="6592824"/>
            <a:ext cx="5104638" cy="7662672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69">
            <a:extLst>
              <a:ext uri="{FF2B5EF4-FFF2-40B4-BE49-F238E27FC236}">
                <a16:creationId xmlns:a16="http://schemas.microsoft.com/office/drawing/2014/main" id="{C2B62B3E-2E85-9D72-32A3-2D3668F2DC69}"/>
              </a:ext>
            </a:extLst>
          </p:cNvPr>
          <p:cNvSpPr/>
          <p:nvPr/>
        </p:nvSpPr>
        <p:spPr>
          <a:xfrm>
            <a:off x="160020" y="6592824"/>
            <a:ext cx="5104638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70">
            <a:extLst>
              <a:ext uri="{FF2B5EF4-FFF2-40B4-BE49-F238E27FC236}">
                <a16:creationId xmlns:a16="http://schemas.microsoft.com/office/drawing/2014/main" id="{D7FD5D64-E756-0EFF-6D96-FFB01F7E8E9B}"/>
              </a:ext>
            </a:extLst>
          </p:cNvPr>
          <p:cNvSpPr/>
          <p:nvPr/>
        </p:nvSpPr>
        <p:spPr>
          <a:xfrm>
            <a:off x="297180" y="6739128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&amp; METODOLOGIJA</a:t>
            </a:r>
            <a:endParaRPr lang="en-US" sz="1400" dirty="0"/>
          </a:p>
        </p:txBody>
      </p:sp>
      <p:sp>
        <p:nvSpPr>
          <p:cNvPr id="26" name="Shape 71">
            <a:extLst>
              <a:ext uri="{FF2B5EF4-FFF2-40B4-BE49-F238E27FC236}">
                <a16:creationId xmlns:a16="http://schemas.microsoft.com/office/drawing/2014/main" id="{E8231605-B1E8-EA6B-2330-AB4C0348F070}"/>
              </a:ext>
            </a:extLst>
          </p:cNvPr>
          <p:cNvSpPr/>
          <p:nvPr/>
        </p:nvSpPr>
        <p:spPr>
          <a:xfrm>
            <a:off x="297180" y="7123176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  <p:sp>
        <p:nvSpPr>
          <p:cNvPr id="27" name="Text 72">
            <a:extLst>
              <a:ext uri="{FF2B5EF4-FFF2-40B4-BE49-F238E27FC236}">
                <a16:creationId xmlns:a16="http://schemas.microsoft.com/office/drawing/2014/main" id="{DC84769B-F66B-9B8E-45E3-504DA930EFDB}"/>
              </a:ext>
            </a:extLst>
          </p:cNvPr>
          <p:cNvSpPr/>
          <p:nvPr/>
        </p:nvSpPr>
        <p:spPr>
          <a:xfrm>
            <a:off x="297180" y="7187184"/>
            <a:ext cx="4830318" cy="694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Izvor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podataka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: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Kaggle, YouTube Trending dataset</a:t>
            </a:r>
            <a:endParaRPr lang="sr-Latn-RS" dirty="0"/>
          </a:p>
          <a:p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Veličina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: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268.787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početnih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zapisa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, 268.704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zapisa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nakon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čišćenja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, 16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originalnih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varijabli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i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47.142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različita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videa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Period: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2020–2024.</a:t>
            </a:r>
            <a:endParaRPr lang="en-US" dirty="0"/>
          </a:p>
          <a:p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Ključne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varijable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:</a:t>
            </a:r>
            <a:b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</a:b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•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view_count</a:t>
            </a:r>
            <a:b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</a:b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• likes</a:t>
            </a:r>
            <a:b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</a:b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•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comment_count</a:t>
            </a:r>
            <a:b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</a:b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•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categoryId</a:t>
            </a:r>
            <a:b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</a:b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•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trending_date</a:t>
            </a:r>
            <a:endParaRPr lang="en-US" dirty="0" err="1"/>
          </a:p>
          <a:p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Preprocesiranje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:</a:t>
            </a:r>
            <a:b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</a:b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•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uklonjeno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83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duplikata</a:t>
            </a:r>
            <a:b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</a:b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•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nedostajući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opisi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zamijenjeni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odgovarajućom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vrijednošću</a:t>
            </a:r>
            <a:b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</a:b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•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provjerene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negativne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vrijednosti</a:t>
            </a:r>
            <a:b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</a:b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•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provjeren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odnos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datuma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objave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i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trending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datuma</a:t>
            </a:r>
            <a:b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</a:b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•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kreiran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engagement rate</a:t>
            </a:r>
            <a:b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</a:b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•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izračunato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vrijeme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od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objave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do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prvog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trendinga</a:t>
            </a:r>
            <a:b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</a:b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•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kategorije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pretvorene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u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nazive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kategorija</a:t>
            </a:r>
            <a:endParaRPr lang="en-US" dirty="0" err="1"/>
          </a:p>
          <a:p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Analitički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pristup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:</a:t>
            </a:r>
            <a:endParaRPr lang="en-US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EDA –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deskriptivna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statistika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i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analiza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obrazaca</a:t>
            </a:r>
            <a:endParaRPr lang="en-US" dirty="0" err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Analiza engagement rate-a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Klasifikacija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visokog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engagementa</a:t>
            </a:r>
            <a:endParaRPr lang="en-US" dirty="0" err="1"/>
          </a:p>
          <a:p>
            <a:pPr marL="285750" indent="-285750">
              <a:buFont typeface="Arial"/>
              <a:buChar char="•"/>
            </a:pP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Random Forest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Logistic Regression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Evaluacija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pomoću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Accuracy, Precision, Recall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i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F1-score</a:t>
            </a:r>
            <a:endParaRPr lang="en-US" dirty="0"/>
          </a:p>
          <a:p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Biblioteke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: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pandas, NumPy, matplotlib, seaborn, scikit-learn</a:t>
            </a:r>
            <a:endParaRPr lang="en-US" dirty="0">
              <a:ea typeface="+mn-lt"/>
              <a:cs typeface="+mn-lt"/>
            </a:endParaRPr>
          </a:p>
          <a:p>
            <a:endParaRPr lang="en-US" sz="1200" i="1" dirty="0">
              <a:solidFill>
                <a:srgbClr val="9CA3AF"/>
              </a:solidFill>
              <a:latin typeface="Times New Roman"/>
              <a:cs typeface="Times New Roman"/>
            </a:endParaRPr>
          </a:p>
        </p:txBody>
      </p:sp>
      <p:sp>
        <p:nvSpPr>
          <p:cNvPr id="28" name="Shape 73">
            <a:extLst>
              <a:ext uri="{FF2B5EF4-FFF2-40B4-BE49-F238E27FC236}">
                <a16:creationId xmlns:a16="http://schemas.microsoft.com/office/drawing/2014/main" id="{45F6B132-9C0C-A4AD-5167-EE96038C0D2C}"/>
              </a:ext>
            </a:extLst>
          </p:cNvPr>
          <p:cNvSpPr/>
          <p:nvPr/>
        </p:nvSpPr>
        <p:spPr>
          <a:xfrm>
            <a:off x="5424678" y="2788920"/>
            <a:ext cx="510463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74">
            <a:extLst>
              <a:ext uri="{FF2B5EF4-FFF2-40B4-BE49-F238E27FC236}">
                <a16:creationId xmlns:a16="http://schemas.microsoft.com/office/drawing/2014/main" id="{335FA1B8-F59D-A7C8-B49F-C0B27913F216}"/>
              </a:ext>
            </a:extLst>
          </p:cNvPr>
          <p:cNvSpPr/>
          <p:nvPr/>
        </p:nvSpPr>
        <p:spPr>
          <a:xfrm>
            <a:off x="5424678" y="2788920"/>
            <a:ext cx="5104638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75">
            <a:extLst>
              <a:ext uri="{FF2B5EF4-FFF2-40B4-BE49-F238E27FC236}">
                <a16:creationId xmlns:a16="http://schemas.microsoft.com/office/drawing/2014/main" id="{DBF14444-E92D-3E5D-F2AC-D3C242CAD2FD}"/>
              </a:ext>
            </a:extLst>
          </p:cNvPr>
          <p:cNvSpPr/>
          <p:nvPr/>
        </p:nvSpPr>
        <p:spPr>
          <a:xfrm>
            <a:off x="5561838" y="2935224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VIZUALIZACIJA PODATAKA</a:t>
            </a:r>
            <a:endParaRPr lang="en-US" sz="1400" dirty="0"/>
          </a:p>
        </p:txBody>
      </p:sp>
      <p:sp>
        <p:nvSpPr>
          <p:cNvPr id="31" name="Shape 76">
            <a:extLst>
              <a:ext uri="{FF2B5EF4-FFF2-40B4-BE49-F238E27FC236}">
                <a16:creationId xmlns:a16="http://schemas.microsoft.com/office/drawing/2014/main" id="{0484E37D-83D8-32D6-CA24-CD6EE10940A5}"/>
              </a:ext>
            </a:extLst>
          </p:cNvPr>
          <p:cNvSpPr/>
          <p:nvPr/>
        </p:nvSpPr>
        <p:spPr>
          <a:xfrm>
            <a:off x="5561838" y="3319272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  <p:sp>
        <p:nvSpPr>
          <p:cNvPr id="32" name="Shape 77">
            <a:extLst>
              <a:ext uri="{FF2B5EF4-FFF2-40B4-BE49-F238E27FC236}">
                <a16:creationId xmlns:a16="http://schemas.microsoft.com/office/drawing/2014/main" id="{5602543E-81F7-AA71-3D44-767A352E9865}"/>
              </a:ext>
            </a:extLst>
          </p:cNvPr>
          <p:cNvSpPr/>
          <p:nvPr/>
        </p:nvSpPr>
        <p:spPr>
          <a:xfrm>
            <a:off x="5424678" y="3474720"/>
            <a:ext cx="5104638" cy="2468880"/>
          </a:xfrm>
          <a:prstGeom prst="rect">
            <a:avLst/>
          </a:prstGeom>
          <a:solidFill>
            <a:srgbClr val="E8F4F8"/>
          </a:solidFill>
          <a:ln w="9525">
            <a:solidFill>
              <a:srgbClr val="A0C8D8"/>
            </a:solidFill>
            <a:prstDash val="dash"/>
          </a:ln>
        </p:spPr>
      </p:sp>
      <p:sp>
        <p:nvSpPr>
          <p:cNvPr id="33" name="Text 78">
            <a:extLst>
              <a:ext uri="{FF2B5EF4-FFF2-40B4-BE49-F238E27FC236}">
                <a16:creationId xmlns:a16="http://schemas.microsoft.com/office/drawing/2014/main" id="{5900DD09-7ECB-5BE3-EEBB-CB2340EC702F}"/>
              </a:ext>
            </a:extLst>
          </p:cNvPr>
          <p:cNvSpPr/>
          <p:nvPr/>
        </p:nvSpPr>
        <p:spPr>
          <a:xfrm>
            <a:off x="5446452" y="3481980"/>
            <a:ext cx="5104638" cy="2468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 lang="en-US" sz="1000" i="1" dirty="0">
              <a:solidFill>
                <a:srgbClr val="64748B"/>
              </a:solidFill>
              <a:latin typeface="Times New Roman"/>
              <a:ea typeface="Times New Roman" pitchFamily="34" charset="-122"/>
              <a:cs typeface="Times New Roman"/>
            </a:endParaRPr>
          </a:p>
          <a:p>
            <a:pPr algn="ctr"/>
            <a:endParaRPr lang="en-US" sz="1000" i="1" dirty="0">
              <a:solidFill>
                <a:srgbClr val="64748B"/>
              </a:solidFill>
              <a:latin typeface="Times New Roman"/>
              <a:ea typeface="Times New Roman" pitchFamily="34" charset="-122"/>
              <a:cs typeface="Times New Roman"/>
            </a:endParaRPr>
          </a:p>
          <a:p>
            <a:pPr algn="ctr"/>
            <a:endParaRPr lang="en-US" sz="1000" i="1" dirty="0">
              <a:solidFill>
                <a:srgbClr val="64748B"/>
              </a:solidFill>
              <a:latin typeface="Times New Roman"/>
              <a:ea typeface="Times New Roman" pitchFamily="34" charset="-122"/>
              <a:cs typeface="Times New Roman"/>
            </a:endParaRPr>
          </a:p>
          <a:p>
            <a:pPr algn="ctr"/>
            <a:endParaRPr lang="en-US" sz="1000" i="1" dirty="0">
              <a:solidFill>
                <a:srgbClr val="64748B"/>
              </a:solidFill>
              <a:latin typeface="Times New Roman"/>
              <a:ea typeface="Times New Roman" pitchFamily="34" charset="-122"/>
              <a:cs typeface="Times New Roman"/>
            </a:endParaRPr>
          </a:p>
          <a:p>
            <a:pPr algn="ctr"/>
            <a:endParaRPr lang="en-US" sz="1000" i="1" dirty="0">
              <a:solidFill>
                <a:srgbClr val="64748B"/>
              </a:solidFill>
              <a:latin typeface="Times New Roman"/>
              <a:ea typeface="Times New Roman" pitchFamily="34" charset="-122"/>
              <a:cs typeface="Times New Roman"/>
            </a:endParaRPr>
          </a:p>
          <a:p>
            <a:pPr algn="ctr"/>
            <a:endParaRPr lang="en-US" sz="1000" i="1" dirty="0">
              <a:solidFill>
                <a:srgbClr val="64748B"/>
              </a:solidFill>
              <a:latin typeface="Times New Roman"/>
              <a:ea typeface="Times New Roman" pitchFamily="34" charset="-122"/>
              <a:cs typeface="Times New Roman"/>
            </a:endParaRPr>
          </a:p>
          <a:p>
            <a:pPr algn="ctr"/>
            <a:endParaRPr lang="en-US" sz="1000" i="1" dirty="0">
              <a:solidFill>
                <a:srgbClr val="64748B"/>
              </a:solidFill>
              <a:latin typeface="Times New Roman"/>
              <a:ea typeface="Times New Roman" pitchFamily="34" charset="-122"/>
              <a:cs typeface="Times New Roman"/>
            </a:endParaRPr>
          </a:p>
          <a:p>
            <a:pPr algn="ctr"/>
            <a:endParaRPr lang="en-US" sz="1000" i="1" dirty="0">
              <a:solidFill>
                <a:srgbClr val="64748B"/>
              </a:solidFill>
              <a:latin typeface="Times New Roman"/>
              <a:ea typeface="Times New Roman" pitchFamily="34" charset="-122"/>
              <a:cs typeface="Times New Roman"/>
            </a:endParaRPr>
          </a:p>
          <a:p>
            <a:pPr algn="ctr"/>
            <a:endParaRPr lang="en-US" sz="1000" i="1" dirty="0">
              <a:solidFill>
                <a:srgbClr val="64748B"/>
              </a:solidFill>
              <a:latin typeface="Times New Roman"/>
              <a:ea typeface="Times New Roman" pitchFamily="34" charset="-122"/>
              <a:cs typeface="Times New Roman"/>
            </a:endParaRPr>
          </a:p>
          <a:p>
            <a:pPr algn="ctr"/>
            <a:endParaRPr lang="en-US" sz="1000" i="1" dirty="0">
              <a:solidFill>
                <a:srgbClr val="64748B"/>
              </a:solidFill>
              <a:latin typeface="Times New Roman"/>
              <a:ea typeface="Times New Roman" pitchFamily="34" charset="-122"/>
              <a:cs typeface="Times New Roman"/>
            </a:endParaRPr>
          </a:p>
          <a:p>
            <a:pPr algn="ctr"/>
            <a:endParaRPr lang="en-US" sz="1000" i="1" dirty="0">
              <a:solidFill>
                <a:srgbClr val="64748B"/>
              </a:solidFill>
              <a:latin typeface="Times New Roman"/>
              <a:ea typeface="Times New Roman" pitchFamily="34" charset="-122"/>
              <a:cs typeface="Times New Roman"/>
            </a:endParaRPr>
          </a:p>
          <a:p>
            <a:pPr algn="ctr"/>
            <a:endParaRPr lang="en-US" sz="1000" i="1" dirty="0">
              <a:solidFill>
                <a:srgbClr val="64748B"/>
              </a:solidFill>
              <a:latin typeface="Times New Roman"/>
              <a:ea typeface="Times New Roman" pitchFamily="34" charset="-122"/>
              <a:cs typeface="Times New Roman"/>
            </a:endParaRPr>
          </a:p>
          <a:p>
            <a:pPr algn="ctr"/>
            <a:endParaRPr lang="en-US" sz="1000" i="1" dirty="0">
              <a:solidFill>
                <a:srgbClr val="64748B"/>
              </a:solidFill>
              <a:latin typeface="Times New Roman"/>
              <a:ea typeface="Times New Roman" pitchFamily="34" charset="-122"/>
              <a:cs typeface="Times New Roman"/>
            </a:endParaRPr>
          </a:p>
          <a:p>
            <a:pPr algn="ctr"/>
            <a:endParaRPr lang="en-US" sz="1000" i="1" dirty="0">
              <a:solidFill>
                <a:srgbClr val="64748B"/>
              </a:solidFill>
              <a:latin typeface="Times New Roman"/>
              <a:ea typeface="Times New Roman" pitchFamily="34" charset="-122"/>
              <a:cs typeface="Times New Roman"/>
            </a:endParaRPr>
          </a:p>
          <a:p>
            <a:pPr algn="ctr"/>
            <a:endParaRPr lang="en-US" sz="1000" i="1" dirty="0">
              <a:solidFill>
                <a:srgbClr val="64748B"/>
              </a:solidFill>
              <a:latin typeface="Times New Roman"/>
              <a:ea typeface="Times New Roman" pitchFamily="34" charset="-122"/>
              <a:cs typeface="Times New Roman"/>
            </a:endParaRPr>
          </a:p>
          <a:p>
            <a:pPr algn="ctr"/>
            <a:r>
              <a:rPr lang="en-US" sz="1000" i="1" err="1">
                <a:solidFill>
                  <a:srgbClr val="64748B"/>
                </a:solidFill>
                <a:latin typeface="Times New Roman"/>
                <a:ea typeface="Times New Roman" pitchFamily="34" charset="-122"/>
                <a:cs typeface="Times New Roman"/>
              </a:rPr>
              <a:t>Slika</a:t>
            </a:r>
            <a:r>
              <a:rPr lang="en-US" sz="1000" i="1" dirty="0">
                <a:solidFill>
                  <a:srgbClr val="64748B"/>
                </a:solidFill>
                <a:latin typeface="Times New Roman"/>
                <a:ea typeface="Times New Roman" pitchFamily="34" charset="-122"/>
                <a:cs typeface="Times New Roman"/>
              </a:rPr>
              <a:t> 1 – </a:t>
            </a:r>
            <a:r>
              <a:rPr lang="en-US" sz="1000" i="1" err="1">
                <a:solidFill>
                  <a:srgbClr val="64748B"/>
                </a:solidFill>
                <a:latin typeface="Times New Roman"/>
                <a:ea typeface="+mn-lt"/>
                <a:cs typeface="Times New Roman"/>
              </a:rPr>
              <a:t>Broj</a:t>
            </a:r>
            <a:r>
              <a:rPr lang="en-US" sz="1000" i="1" dirty="0">
                <a:solidFill>
                  <a:srgbClr val="64748B"/>
                </a:solidFill>
                <a:latin typeface="Times New Roman"/>
                <a:ea typeface="+mn-lt"/>
                <a:cs typeface="Times New Roman"/>
              </a:rPr>
              <a:t> trending </a:t>
            </a:r>
            <a:r>
              <a:rPr lang="en-US" sz="1000" i="1" err="1">
                <a:solidFill>
                  <a:srgbClr val="64748B"/>
                </a:solidFill>
                <a:latin typeface="Times New Roman"/>
                <a:ea typeface="+mn-lt"/>
                <a:cs typeface="Times New Roman"/>
              </a:rPr>
              <a:t>zapisa</a:t>
            </a:r>
            <a:r>
              <a:rPr lang="en-US" sz="1000" i="1" dirty="0">
                <a:solidFill>
                  <a:srgbClr val="64748B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1000" i="1" err="1">
                <a:solidFill>
                  <a:srgbClr val="64748B"/>
                </a:solidFill>
                <a:latin typeface="Times New Roman"/>
                <a:ea typeface="+mn-lt"/>
                <a:cs typeface="Times New Roman"/>
              </a:rPr>
              <a:t>prema</a:t>
            </a:r>
            <a:r>
              <a:rPr lang="en-US" sz="1000" i="1" dirty="0">
                <a:solidFill>
                  <a:srgbClr val="64748B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1000" i="1" err="1">
                <a:solidFill>
                  <a:srgbClr val="64748B"/>
                </a:solidFill>
                <a:latin typeface="Times New Roman"/>
                <a:ea typeface="+mn-lt"/>
                <a:cs typeface="Times New Roman"/>
              </a:rPr>
              <a:t>kategoriji</a:t>
            </a:r>
            <a:r>
              <a:rPr lang="en-US" sz="1000" i="1" dirty="0">
                <a:solidFill>
                  <a:srgbClr val="64748B"/>
                </a:solidFill>
                <a:latin typeface="Times New Roman"/>
                <a:ea typeface="+mn-lt"/>
                <a:cs typeface="Times New Roman"/>
              </a:rPr>
              <a:t> (2020–2024).</a:t>
            </a:r>
            <a:endParaRPr lang="en-US" sz="1000" i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4" name="Shape 79">
            <a:extLst>
              <a:ext uri="{FF2B5EF4-FFF2-40B4-BE49-F238E27FC236}">
                <a16:creationId xmlns:a16="http://schemas.microsoft.com/office/drawing/2014/main" id="{F7BE6597-E08A-6EB4-E299-22DD52771168}"/>
              </a:ext>
            </a:extLst>
          </p:cNvPr>
          <p:cNvSpPr/>
          <p:nvPr/>
        </p:nvSpPr>
        <p:spPr>
          <a:xfrm>
            <a:off x="5424678" y="6108192"/>
            <a:ext cx="5104638" cy="2468880"/>
          </a:xfrm>
          <a:prstGeom prst="rect">
            <a:avLst/>
          </a:prstGeom>
          <a:solidFill>
            <a:srgbClr val="E8F4F8"/>
          </a:solidFill>
          <a:ln w="9525">
            <a:solidFill>
              <a:srgbClr val="A0C8D8"/>
            </a:solidFill>
            <a:prstDash val="dash"/>
          </a:ln>
        </p:spPr>
      </p:sp>
      <p:sp>
        <p:nvSpPr>
          <p:cNvPr id="35" name="Text 80">
            <a:extLst>
              <a:ext uri="{FF2B5EF4-FFF2-40B4-BE49-F238E27FC236}">
                <a16:creationId xmlns:a16="http://schemas.microsoft.com/office/drawing/2014/main" id="{6606A2F5-AEAF-F3FA-FD10-50097DFD96A3}"/>
              </a:ext>
            </a:extLst>
          </p:cNvPr>
          <p:cNvSpPr/>
          <p:nvPr/>
        </p:nvSpPr>
        <p:spPr>
          <a:xfrm>
            <a:off x="5431933" y="6144480"/>
            <a:ext cx="5104638" cy="2468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 lang="en-US" sz="1000" i="1" dirty="0">
              <a:solidFill>
                <a:srgbClr val="64748B"/>
              </a:solidFill>
              <a:latin typeface="Times New Roman"/>
              <a:ea typeface="Times New Roman" pitchFamily="34" charset="-122"/>
              <a:cs typeface="Times New Roman"/>
            </a:endParaRPr>
          </a:p>
          <a:p>
            <a:pPr algn="ctr"/>
            <a:endParaRPr lang="en-US" sz="1000" i="1" dirty="0">
              <a:solidFill>
                <a:srgbClr val="64748B"/>
              </a:solidFill>
              <a:latin typeface="Times New Roman"/>
              <a:ea typeface="Times New Roman" pitchFamily="34" charset="-122"/>
              <a:cs typeface="Times New Roman"/>
            </a:endParaRPr>
          </a:p>
          <a:p>
            <a:pPr algn="ctr"/>
            <a:endParaRPr lang="en-US" sz="1000" i="1" dirty="0">
              <a:solidFill>
                <a:srgbClr val="64748B"/>
              </a:solidFill>
              <a:latin typeface="Times New Roman"/>
              <a:ea typeface="Times New Roman" pitchFamily="34" charset="-122"/>
              <a:cs typeface="Times New Roman"/>
            </a:endParaRPr>
          </a:p>
          <a:p>
            <a:pPr algn="ctr"/>
            <a:endParaRPr lang="en-US" sz="1000" i="1" dirty="0">
              <a:solidFill>
                <a:srgbClr val="64748B"/>
              </a:solidFill>
              <a:latin typeface="Times New Roman"/>
              <a:ea typeface="Times New Roman" pitchFamily="34" charset="-122"/>
              <a:cs typeface="Times New Roman"/>
            </a:endParaRPr>
          </a:p>
          <a:p>
            <a:pPr algn="ctr"/>
            <a:endParaRPr lang="en-US" sz="1000" i="1" dirty="0">
              <a:solidFill>
                <a:srgbClr val="64748B"/>
              </a:solidFill>
              <a:latin typeface="Times New Roman"/>
              <a:ea typeface="Times New Roman" pitchFamily="34" charset="-122"/>
              <a:cs typeface="Times New Roman"/>
            </a:endParaRPr>
          </a:p>
          <a:p>
            <a:pPr algn="ctr"/>
            <a:endParaRPr lang="en-US" sz="1000" i="1" dirty="0">
              <a:solidFill>
                <a:srgbClr val="64748B"/>
              </a:solidFill>
              <a:latin typeface="Times New Roman"/>
              <a:ea typeface="Times New Roman" pitchFamily="34" charset="-122"/>
              <a:cs typeface="Times New Roman"/>
            </a:endParaRPr>
          </a:p>
          <a:p>
            <a:pPr algn="ctr"/>
            <a:endParaRPr lang="en-US" sz="1000" i="1" dirty="0">
              <a:solidFill>
                <a:srgbClr val="64748B"/>
              </a:solidFill>
              <a:latin typeface="Times New Roman"/>
              <a:ea typeface="Times New Roman" pitchFamily="34" charset="-122"/>
              <a:cs typeface="Times New Roman"/>
            </a:endParaRPr>
          </a:p>
          <a:p>
            <a:pPr algn="ctr"/>
            <a:endParaRPr lang="en-US" sz="1000" i="1" dirty="0">
              <a:solidFill>
                <a:srgbClr val="64748B"/>
              </a:solidFill>
              <a:latin typeface="Times New Roman"/>
              <a:ea typeface="Times New Roman" pitchFamily="34" charset="-122"/>
              <a:cs typeface="Times New Roman"/>
            </a:endParaRPr>
          </a:p>
          <a:p>
            <a:pPr algn="ctr"/>
            <a:endParaRPr lang="en-US" sz="1000" i="1" dirty="0">
              <a:solidFill>
                <a:srgbClr val="64748B"/>
              </a:solidFill>
              <a:latin typeface="Times New Roman"/>
              <a:ea typeface="Times New Roman" pitchFamily="34" charset="-122"/>
              <a:cs typeface="Times New Roman"/>
            </a:endParaRPr>
          </a:p>
          <a:p>
            <a:pPr algn="ctr"/>
            <a:endParaRPr lang="en-US" sz="1000" i="1" dirty="0">
              <a:solidFill>
                <a:srgbClr val="64748B"/>
              </a:solidFill>
              <a:latin typeface="Times New Roman"/>
              <a:ea typeface="Times New Roman" pitchFamily="34" charset="-122"/>
              <a:cs typeface="Times New Roman"/>
            </a:endParaRPr>
          </a:p>
          <a:p>
            <a:pPr algn="ctr"/>
            <a:endParaRPr lang="en-US" sz="1000" i="1" dirty="0">
              <a:solidFill>
                <a:srgbClr val="64748B"/>
              </a:solidFill>
              <a:latin typeface="Times New Roman"/>
              <a:ea typeface="Times New Roman" pitchFamily="34" charset="-122"/>
              <a:cs typeface="Times New Roman"/>
            </a:endParaRPr>
          </a:p>
          <a:p>
            <a:pPr algn="ctr"/>
            <a:endParaRPr lang="en-US" sz="1000" i="1" dirty="0">
              <a:solidFill>
                <a:srgbClr val="64748B"/>
              </a:solidFill>
              <a:latin typeface="Times New Roman"/>
              <a:ea typeface="Times New Roman" pitchFamily="34" charset="-122"/>
              <a:cs typeface="Times New Roman"/>
            </a:endParaRPr>
          </a:p>
          <a:p>
            <a:pPr algn="ctr"/>
            <a:endParaRPr lang="en-US" sz="1000" i="1" dirty="0">
              <a:solidFill>
                <a:srgbClr val="64748B"/>
              </a:solidFill>
              <a:latin typeface="Times New Roman"/>
              <a:ea typeface="Times New Roman" pitchFamily="34" charset="-122"/>
              <a:cs typeface="Times New Roman"/>
            </a:endParaRPr>
          </a:p>
          <a:p>
            <a:pPr algn="ctr"/>
            <a:endParaRPr lang="en-US" sz="1000" i="1" dirty="0">
              <a:solidFill>
                <a:srgbClr val="64748B"/>
              </a:solidFill>
              <a:latin typeface="Times New Roman"/>
              <a:ea typeface="Times New Roman" pitchFamily="34" charset="-122"/>
              <a:cs typeface="Times New Roman"/>
            </a:endParaRPr>
          </a:p>
          <a:p>
            <a:pPr algn="ctr"/>
            <a:r>
              <a:rPr lang="en-US" sz="1000" i="1" dirty="0" err="1">
                <a:solidFill>
                  <a:srgbClr val="64748B"/>
                </a:solidFill>
                <a:latin typeface="Times New Roman"/>
                <a:ea typeface="Times New Roman" pitchFamily="34" charset="-122"/>
                <a:cs typeface="Times New Roman"/>
              </a:rPr>
              <a:t>Slika</a:t>
            </a:r>
            <a:r>
              <a:rPr lang="en-US" sz="1000" i="1" dirty="0">
                <a:solidFill>
                  <a:srgbClr val="64748B"/>
                </a:solidFill>
                <a:latin typeface="Times New Roman"/>
                <a:ea typeface="Times New Roman" pitchFamily="34" charset="-122"/>
                <a:cs typeface="Times New Roman"/>
              </a:rPr>
              <a:t> 2 – </a:t>
            </a:r>
            <a:r>
              <a:rPr lang="en-US" sz="1000" i="1" dirty="0" err="1">
                <a:solidFill>
                  <a:srgbClr val="64748B"/>
                </a:solidFill>
                <a:latin typeface="Times New Roman"/>
                <a:ea typeface="+mn-lt"/>
                <a:cs typeface="Times New Roman"/>
              </a:rPr>
              <a:t>Medijan</a:t>
            </a:r>
            <a:r>
              <a:rPr lang="en-US" sz="1000" i="1" dirty="0">
                <a:solidFill>
                  <a:srgbClr val="64748B"/>
                </a:solidFill>
                <a:latin typeface="Times New Roman"/>
                <a:ea typeface="+mn-lt"/>
                <a:cs typeface="Times New Roman"/>
              </a:rPr>
              <a:t> engagement rate-a </a:t>
            </a:r>
            <a:r>
              <a:rPr lang="en-US" sz="1000" i="1" dirty="0" err="1">
                <a:solidFill>
                  <a:srgbClr val="64748B"/>
                </a:solidFill>
                <a:latin typeface="Times New Roman"/>
                <a:ea typeface="+mn-lt"/>
                <a:cs typeface="Times New Roman"/>
              </a:rPr>
              <a:t>prema</a:t>
            </a:r>
            <a:r>
              <a:rPr lang="en-US" sz="1000" i="1" dirty="0">
                <a:solidFill>
                  <a:srgbClr val="64748B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1000" i="1" dirty="0" err="1">
                <a:solidFill>
                  <a:srgbClr val="64748B"/>
                </a:solidFill>
                <a:latin typeface="Times New Roman"/>
                <a:ea typeface="+mn-lt"/>
                <a:cs typeface="Times New Roman"/>
              </a:rPr>
              <a:t>kategoriji</a:t>
            </a:r>
            <a:r>
              <a:rPr lang="en-US" sz="1000" i="1" dirty="0">
                <a:solidFill>
                  <a:srgbClr val="64748B"/>
                </a:solidFill>
                <a:latin typeface="Times New Roman"/>
                <a:ea typeface="+mn-lt"/>
                <a:cs typeface="Times New Roman"/>
              </a:rPr>
              <a:t> (2020–2024).</a:t>
            </a:r>
            <a:endParaRPr lang="en-US" sz="1000" i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6" name="Shape 81">
            <a:extLst>
              <a:ext uri="{FF2B5EF4-FFF2-40B4-BE49-F238E27FC236}">
                <a16:creationId xmlns:a16="http://schemas.microsoft.com/office/drawing/2014/main" id="{D98B04CC-70A7-F66E-20AF-89F43CFB5497}"/>
              </a:ext>
            </a:extLst>
          </p:cNvPr>
          <p:cNvSpPr/>
          <p:nvPr/>
        </p:nvSpPr>
        <p:spPr>
          <a:xfrm>
            <a:off x="5424678" y="8741664"/>
            <a:ext cx="5104638" cy="2916936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7" name="Shape 82">
            <a:extLst>
              <a:ext uri="{FF2B5EF4-FFF2-40B4-BE49-F238E27FC236}">
                <a16:creationId xmlns:a16="http://schemas.microsoft.com/office/drawing/2014/main" id="{7F520AF5-F877-D2D8-B58D-285EE095397C}"/>
              </a:ext>
            </a:extLst>
          </p:cNvPr>
          <p:cNvSpPr/>
          <p:nvPr/>
        </p:nvSpPr>
        <p:spPr>
          <a:xfrm>
            <a:off x="5424678" y="8741664"/>
            <a:ext cx="5104638" cy="10972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8" name="Text 83">
            <a:extLst>
              <a:ext uri="{FF2B5EF4-FFF2-40B4-BE49-F238E27FC236}">
                <a16:creationId xmlns:a16="http://schemas.microsoft.com/office/drawing/2014/main" id="{482D168A-9EFA-DC2D-79B6-E8B4A7E6A09B}"/>
              </a:ext>
            </a:extLst>
          </p:cNvPr>
          <p:cNvSpPr/>
          <p:nvPr/>
        </p:nvSpPr>
        <p:spPr>
          <a:xfrm>
            <a:off x="5561838" y="8887968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ZAKLJUČAK</a:t>
            </a:r>
            <a:endParaRPr lang="en-US" sz="1400" dirty="0"/>
          </a:p>
        </p:txBody>
      </p:sp>
      <p:sp>
        <p:nvSpPr>
          <p:cNvPr id="39" name="Shape 84">
            <a:extLst>
              <a:ext uri="{FF2B5EF4-FFF2-40B4-BE49-F238E27FC236}">
                <a16:creationId xmlns:a16="http://schemas.microsoft.com/office/drawing/2014/main" id="{3611276C-ECCF-A9D4-0BFB-3331B6DF4774}"/>
              </a:ext>
            </a:extLst>
          </p:cNvPr>
          <p:cNvSpPr/>
          <p:nvPr/>
        </p:nvSpPr>
        <p:spPr>
          <a:xfrm>
            <a:off x="5561838" y="9272016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  <p:sp>
        <p:nvSpPr>
          <p:cNvPr id="40" name="Text 85">
            <a:extLst>
              <a:ext uri="{FF2B5EF4-FFF2-40B4-BE49-F238E27FC236}">
                <a16:creationId xmlns:a16="http://schemas.microsoft.com/office/drawing/2014/main" id="{0A774585-3D8A-8B13-E5C8-EF282132A861}"/>
              </a:ext>
            </a:extLst>
          </p:cNvPr>
          <p:cNvSpPr/>
          <p:nvPr/>
        </p:nvSpPr>
        <p:spPr>
          <a:xfrm>
            <a:off x="5561838" y="9093841"/>
            <a:ext cx="4830318" cy="2213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Analiza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pokazuje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da se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popularnost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i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engagement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značajno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razlikuju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između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YouTube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kategorija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. Entertainment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ima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najveći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broj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trending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zapisa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,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dok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Music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ima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najveći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medijan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broja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pregleda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, a Comedy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najveći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medijan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engagement rate-a od 7,59%. Korelacija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između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broja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pregleda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i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engagement rate-a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iznosi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samo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-0,031,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što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pokazuje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da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veliki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broj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pregleda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ne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podrazumijeva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visok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engagement. Random Forest je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ostvario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F1-score od 71,94%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i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Recall od 85,17%,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pri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čemu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je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kategorija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videa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bila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najvažnija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varijabla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s 82,76%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ukupne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važnosti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.</a:t>
            </a:r>
            <a:endParaRPr lang="sr-Latn-RS" dirty="0"/>
          </a:p>
          <a:p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Ograničenja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: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Dataset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obuhvata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period 2020–2024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i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ne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predstavlja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kompletan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YouTube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ekosistem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. Analiza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koristi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samo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dostupne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Trending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zapise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, pa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rezultati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ne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mogu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nužno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predstavljati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sve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objavljene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YouTube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videe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Buduća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9CA3AF"/>
                </a:solidFill>
                <a:ea typeface="+mn-lt"/>
                <a:cs typeface="+mn-lt"/>
              </a:rPr>
              <a:t>istraživanja</a:t>
            </a:r>
            <a:r>
              <a:rPr lang="en-US" sz="1200" b="1" dirty="0">
                <a:solidFill>
                  <a:srgbClr val="9CA3AF"/>
                </a:solidFill>
                <a:ea typeface="+mn-lt"/>
                <a:cs typeface="+mn-lt"/>
              </a:rPr>
              <a:t>: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Buduće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analize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mogu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uključiti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podatke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iz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novijih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perioda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,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tekstualnu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analizu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naslova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i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opisa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,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podatke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o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kanalima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, thumbnail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karakteristike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i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naprednije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modele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mašinskog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učenja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9CA3AF"/>
              </a:solidFill>
              <a:latin typeface="Times New Roman"/>
              <a:cs typeface="Times New Roman"/>
            </a:endParaRPr>
          </a:p>
        </p:txBody>
      </p:sp>
      <p:sp>
        <p:nvSpPr>
          <p:cNvPr id="41" name="Shape 86">
            <a:extLst>
              <a:ext uri="{FF2B5EF4-FFF2-40B4-BE49-F238E27FC236}">
                <a16:creationId xmlns:a16="http://schemas.microsoft.com/office/drawing/2014/main" id="{825930A2-BE01-5403-D237-FBCBF8691B0B}"/>
              </a:ext>
            </a:extLst>
          </p:cNvPr>
          <p:cNvSpPr/>
          <p:nvPr/>
        </p:nvSpPr>
        <p:spPr>
          <a:xfrm>
            <a:off x="5424678" y="11725524"/>
            <a:ext cx="5104638" cy="2529972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2" name="Shape 87">
            <a:extLst>
              <a:ext uri="{FF2B5EF4-FFF2-40B4-BE49-F238E27FC236}">
                <a16:creationId xmlns:a16="http://schemas.microsoft.com/office/drawing/2014/main" id="{6316C567-17CB-C513-EB25-5C44312CCB8A}"/>
              </a:ext>
            </a:extLst>
          </p:cNvPr>
          <p:cNvSpPr/>
          <p:nvPr/>
        </p:nvSpPr>
        <p:spPr>
          <a:xfrm>
            <a:off x="5424678" y="11725524"/>
            <a:ext cx="5104638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3" name="Text 88">
            <a:extLst>
              <a:ext uri="{FF2B5EF4-FFF2-40B4-BE49-F238E27FC236}">
                <a16:creationId xmlns:a16="http://schemas.microsoft.com/office/drawing/2014/main" id="{83CB6F53-9E6B-AB88-7E1B-2DABBE0B7690}"/>
              </a:ext>
            </a:extLst>
          </p:cNvPr>
          <p:cNvSpPr/>
          <p:nvPr/>
        </p:nvSpPr>
        <p:spPr>
          <a:xfrm>
            <a:off x="5561838" y="11841092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LITERATURA</a:t>
            </a:r>
            <a:endParaRPr lang="en-US" sz="1400" dirty="0"/>
          </a:p>
        </p:txBody>
      </p:sp>
      <p:sp>
        <p:nvSpPr>
          <p:cNvPr id="44" name="Shape 89">
            <a:extLst>
              <a:ext uri="{FF2B5EF4-FFF2-40B4-BE49-F238E27FC236}">
                <a16:creationId xmlns:a16="http://schemas.microsoft.com/office/drawing/2014/main" id="{41CBDD31-06DC-EA37-BD58-33B1C675EE0D}"/>
              </a:ext>
            </a:extLst>
          </p:cNvPr>
          <p:cNvSpPr/>
          <p:nvPr/>
        </p:nvSpPr>
        <p:spPr>
          <a:xfrm>
            <a:off x="5561838" y="12194404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  <p:sp>
        <p:nvSpPr>
          <p:cNvPr id="45" name="Text 90">
            <a:extLst>
              <a:ext uri="{FF2B5EF4-FFF2-40B4-BE49-F238E27FC236}">
                <a16:creationId xmlns:a16="http://schemas.microsoft.com/office/drawing/2014/main" id="{15A9EE1C-E3BB-896B-723C-37C8837C1BDA}"/>
              </a:ext>
            </a:extLst>
          </p:cNvPr>
          <p:cNvSpPr/>
          <p:nvPr/>
        </p:nvSpPr>
        <p:spPr>
          <a:xfrm>
            <a:off x="5561838" y="12298680"/>
            <a:ext cx="4830318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[1] Kaggle. (Godina). </a:t>
            </a:r>
            <a:r>
              <a:rPr lang="en-US" sz="1200" i="1" dirty="0">
                <a:solidFill>
                  <a:srgbClr val="9CA3AF"/>
                </a:solidFill>
                <a:ea typeface="+mn-lt"/>
                <a:cs typeface="+mn-lt"/>
              </a:rPr>
              <a:t>YouTube Trending Dataset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.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Dostupno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na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: URL. </a:t>
            </a:r>
            <a:r>
              <a:rPr lang="en-US" sz="1200" dirty="0" err="1">
                <a:solidFill>
                  <a:srgbClr val="9CA3AF"/>
                </a:solidFill>
                <a:ea typeface="+mn-lt"/>
                <a:cs typeface="+mn-lt"/>
              </a:rPr>
              <a:t>Pristupljeno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: DD/MM/GGGG.</a:t>
            </a:r>
            <a:endParaRPr lang="sr-Latn-RS" dirty="0">
              <a:ea typeface="+mn-lt"/>
              <a:cs typeface="+mn-lt"/>
            </a:endParaRPr>
          </a:p>
          <a:p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[2] McKinney, W. (2022). </a:t>
            </a:r>
            <a:r>
              <a:rPr lang="en-US" sz="1200" i="1" dirty="0">
                <a:solidFill>
                  <a:srgbClr val="9CA3AF"/>
                </a:solidFill>
                <a:ea typeface="+mn-lt"/>
                <a:cs typeface="+mn-lt"/>
              </a:rPr>
              <a:t>Python for Data Analysis: Data Wrangling with pandas, NumPy, and Jupyter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. O'Reilly Media.</a:t>
            </a:r>
            <a:endParaRPr lang="en-US" dirty="0"/>
          </a:p>
          <a:p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[3] Pedregosa, F. et al. (2011). Scikit-learn: Machine Learning in Python. </a:t>
            </a:r>
            <a:r>
              <a:rPr lang="en-US" sz="1200" i="1" dirty="0">
                <a:solidFill>
                  <a:srgbClr val="9CA3AF"/>
                </a:solidFill>
                <a:ea typeface="+mn-lt"/>
                <a:cs typeface="+mn-lt"/>
              </a:rPr>
              <a:t>Journal of Machine Learning Research, 12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, 2825–2830.</a:t>
            </a:r>
            <a:endParaRPr lang="en-US" dirty="0"/>
          </a:p>
          <a:p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[4] Hunter, J. D. (2007). Matplotlib: A 2D Graphics Environment. </a:t>
            </a:r>
            <a:r>
              <a:rPr lang="en-US" sz="1200" i="1" dirty="0">
                <a:solidFill>
                  <a:srgbClr val="9CA3AF"/>
                </a:solidFill>
                <a:ea typeface="+mn-lt"/>
                <a:cs typeface="+mn-lt"/>
              </a:rPr>
              <a:t>Computing in Science &amp; Engineering, 9</a:t>
            </a:r>
            <a:r>
              <a:rPr lang="en-US" sz="1200" dirty="0">
                <a:solidFill>
                  <a:srgbClr val="9CA3AF"/>
                </a:solidFill>
                <a:ea typeface="+mn-lt"/>
                <a:cs typeface="+mn-lt"/>
              </a:rPr>
              <a:t>(3), 90–95.</a:t>
            </a:r>
            <a:endParaRPr lang="en-US" dirty="0"/>
          </a:p>
          <a:p>
            <a:pPr marL="0" indent="0" algn="l">
              <a:buNone/>
            </a:pPr>
            <a:endParaRPr lang="en-US" sz="1200" i="1" dirty="0">
              <a:solidFill>
                <a:srgbClr val="9CA3AF"/>
              </a:solidFill>
              <a:latin typeface="Times New Roman"/>
              <a:cs typeface="Times New Roman"/>
            </a:endParaRPr>
          </a:p>
        </p:txBody>
      </p:sp>
      <p:pic>
        <p:nvPicPr>
          <p:cNvPr id="2" name="Slika 1">
            <a:extLst>
              <a:ext uri="{FF2B5EF4-FFF2-40B4-BE49-F238E27FC236}">
                <a16:creationId xmlns:a16="http://schemas.microsoft.com/office/drawing/2014/main" id="{0725E42D-AEC1-DC57-792F-CEF292EFE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585" y="3425923"/>
            <a:ext cx="5097023" cy="2288544"/>
          </a:xfrm>
          <a:prstGeom prst="rect">
            <a:avLst/>
          </a:prstGeom>
        </p:spPr>
      </p:pic>
      <p:pic>
        <p:nvPicPr>
          <p:cNvPr id="3" name="Slika 2">
            <a:extLst>
              <a:ext uri="{FF2B5EF4-FFF2-40B4-BE49-F238E27FC236}">
                <a16:creationId xmlns:a16="http://schemas.microsoft.com/office/drawing/2014/main" id="{13B1F69E-2588-EDE3-C4F1-16C3176BF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585" y="6150436"/>
            <a:ext cx="5076818" cy="218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487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303</Words>
  <Application>Microsoft Office PowerPoint</Application>
  <PresentationFormat>Prilagođeno</PresentationFormat>
  <Paragraphs>45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Naslovi slajdova</vt:lpstr>
      </vt:variant>
      <vt:variant>
        <vt:i4>1</vt:i4>
      </vt:variant>
    </vt:vector>
  </HeadingPairs>
  <TitlesOfParts>
    <vt:vector size="3" baseType="lpstr">
      <vt:lpstr>Office Theme</vt:lpstr>
      <vt:lpstr>Custom Design</vt:lpstr>
      <vt:lpstr>PowerPoint prezentacija</vt:lpstr>
    </vt:vector>
  </TitlesOfParts>
  <Company>Selena Kurtic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 II</dc:title>
  <dc:subject>Uvod u analizu podataka</dc:subject>
  <dc:creator>Selena Kurtic</dc:creator>
  <cp:lastModifiedBy>Selena Kurtic</cp:lastModifiedBy>
  <cp:revision>43</cp:revision>
  <dcterms:created xsi:type="dcterms:W3CDTF">2026-05-15T21:13:15Z</dcterms:created>
  <dcterms:modified xsi:type="dcterms:W3CDTF">2026-09-05T14:08:40Z</dcterms:modified>
</cp:coreProperties>
</file>